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515596"/>
            <a:ext cx="4390223" cy="133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F0EDDE"/>
                </a:solidFill>
                <a:latin typeface="Helvetica"/>
              </a:rPr>
              <a:t>Inscrição para o</a:t>
            </a:r>
            <a:r>
              <a:rPr sz="840" b="1" i="0">
                <a:solidFill>
                  <a:srgbClr val="F5F1E1"/>
                </a:solidFill>
                <a:latin typeface="Helvetica"/>
              </a:rPr>
              <a:t> Impulsiona Startups</a:t>
            </a:r>
            <a:r>
              <a:rPr sz="840" b="0" i="0">
                <a:solidFill>
                  <a:srgbClr val="F0EDDE"/>
                </a:solidFill>
                <a:latin typeface="Helvetica"/>
              </a:rPr>
              <a:t>, eixo Inovação em Saúde, 2026 a 2027.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3512278"/>
            <a:ext cx="4799041" cy="18954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31"/>
              </a:lnSpc>
              <a:spcBef>
                <a:spcPts val="0"/>
              </a:spcBef>
              <a:spcAft>
                <a:spcPts val="0"/>
              </a:spcAft>
            </a:pPr>
            <a:r>
              <a:rPr sz="3520" b="1" i="0" spc="-35">
                <a:solidFill>
                  <a:srgbClr val="F5F1E1"/>
                </a:solidFill>
                <a:latin typeface="League Spartan"/>
              </a:rPr>
              <a:t>Cuidamos de</a:t>
            </a:r>
          </a:p>
          <a:p>
            <a:pPr algn="l">
              <a:lnSpc>
                <a:spcPts val="3731"/>
              </a:lnSpc>
              <a:spcBef>
                <a:spcPts val="0"/>
              </a:spcBef>
              <a:spcAft>
                <a:spcPts val="0"/>
              </a:spcAft>
            </a:pPr>
            <a:r>
              <a:rPr sz="3520" b="1" i="0" spc="-35">
                <a:solidFill>
                  <a:srgbClr val="F5F1E1"/>
                </a:solidFill>
                <a:latin typeface="League Spartan"/>
              </a:rPr>
              <a:t>Funcionários Públicos</a:t>
            </a:r>
          </a:p>
          <a:p>
            <a:pPr algn="l">
              <a:lnSpc>
                <a:spcPts val="3731"/>
              </a:lnSpc>
              <a:spcBef>
                <a:spcPts val="0"/>
              </a:spcBef>
              <a:spcAft>
                <a:spcPts val="0"/>
              </a:spcAft>
            </a:pPr>
            <a:r>
              <a:rPr sz="3520" b="1" i="0" spc="-35">
                <a:solidFill>
                  <a:srgbClr val="F5F1E1"/>
                </a:solidFill>
                <a:latin typeface="League Spartan"/>
              </a:rPr>
              <a:t>para uma</a:t>
            </a:r>
            <a:r>
              <a:rPr sz="3520" b="1" i="0" spc="-35">
                <a:solidFill>
                  <a:srgbClr val="F7C31C"/>
                </a:solidFill>
                <a:latin typeface="League Spartan"/>
              </a:rPr>
              <a:t> Saúde</a:t>
            </a:r>
          </a:p>
          <a:p>
            <a:pPr algn="l">
              <a:lnSpc>
                <a:spcPts val="3731"/>
              </a:lnSpc>
              <a:spcBef>
                <a:spcPts val="0"/>
              </a:spcBef>
              <a:spcAft>
                <a:spcPts val="0"/>
              </a:spcAft>
            </a:pPr>
            <a:r>
              <a:rPr sz="3520" b="1" i="0" spc="-35">
                <a:solidFill>
                  <a:srgbClr val="F7C31C"/>
                </a:solidFill>
                <a:latin typeface="League Spartan"/>
              </a:rPr>
              <a:t>Mental Coletiva</a:t>
            </a:r>
            <a:r>
              <a:rPr sz="3520" b="1" i="0" spc="-35">
                <a:solidFill>
                  <a:srgbClr val="F5F1E1"/>
                </a:solidFill>
                <a:latin typeface="League Spartan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912136"/>
            <a:ext cx="5399081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1E1"/>
                </a:solidFill>
                <a:latin typeface="Helvetica"/>
              </a:rPr>
              <a:t>A Rede de</a:t>
            </a:r>
            <a:r>
              <a:rPr sz="1300" b="1" i="0">
                <a:solidFill>
                  <a:srgbClr val="F7C31C"/>
                </a:solidFill>
                <a:latin typeface="Helvetica"/>
              </a:rPr>
              <a:t> Saúde Mental</a:t>
            </a:r>
            <a:r>
              <a:rPr sz="1300" b="0" i="0">
                <a:solidFill>
                  <a:srgbClr val="E0DBCC"/>
                </a:solidFill>
                <a:latin typeface="Helvetica"/>
              </a:rPr>
              <a:t> para as Políticas Públicas do futuro.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6193067"/>
            <a:ext cx="1539113" cy="133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B5AEA0"/>
                </a:solidFill>
                <a:latin typeface="Helvetica"/>
              </a:rPr>
              <a:t>Baseado em evidências.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661405"/>
            <a:ext cx="461581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80766A"/>
                </a:solidFill>
                <a:latin typeface="League Spartan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92270" y="460153"/>
            <a:ext cx="1391729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935267"/>
            <a:ext cx="3095583" cy="3224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9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0">
                <a:solidFill>
                  <a:srgbClr val="FFFFFF"/>
                </a:solidFill>
                <a:latin typeface="League Spartan"/>
              </a:rPr>
              <a:t>GLOBALMENTE, O MAIOR SISTEMA PÚBLICO</a:t>
            </a:r>
          </a:p>
          <a:p>
            <a:pPr algn="l">
              <a:lnSpc>
                <a:spcPts val="1269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0">
                <a:solidFill>
                  <a:srgbClr val="FFFFFF"/>
                </a:solidFill>
                <a:latin typeface="League Spartan"/>
              </a:rPr>
              <a:t>DE SAÚDE DO MUNDO.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457784"/>
            <a:ext cx="74695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7C31C"/>
                </a:solidFill>
                <a:latin typeface="League Spartan"/>
              </a:rPr>
              <a:t>76%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719589"/>
            <a:ext cx="2980115" cy="2788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3DECF"/>
                </a:solidFill>
                <a:latin typeface="Helvetica"/>
              </a:rPr>
              <a:t>dependem do</a:t>
            </a:r>
            <a:r>
              <a:rPr sz="780" b="1" i="0">
                <a:solidFill>
                  <a:srgbClr val="E3DECF"/>
                </a:solidFill>
                <a:latin typeface="Helvetica"/>
              </a:rPr>
              <a:t> SUS</a:t>
            </a:r>
            <a:r>
              <a:rPr sz="780" b="0" i="0">
                <a:solidFill>
                  <a:srgbClr val="E3DECF"/>
                </a:solidFill>
                <a:latin typeface="Helvetica"/>
              </a:rPr>
              <a:t>.</a:t>
            </a:r>
            <a:r>
              <a:rPr sz="780" b="1" i="0">
                <a:solidFill>
                  <a:srgbClr val="F7C31C"/>
                </a:solidFill>
                <a:latin typeface="Helvetica"/>
              </a:rPr>
              <a:t> 162 milhões de pessoas</a:t>
            </a:r>
            <a:r>
              <a:rPr sz="780" b="0" i="0">
                <a:solidFill>
                  <a:srgbClr val="E3DECF"/>
                </a:solidFill>
                <a:latin typeface="Helvetica"/>
              </a:rPr>
              <a:t> sem plano</a:t>
            </a:r>
          </a:p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2DECE"/>
                </a:solidFill>
                <a:latin typeface="Helvetica"/>
              </a:rPr>
              <a:t>privado.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3193495"/>
            <a:ext cx="1295908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7C31C"/>
                </a:solidFill>
                <a:latin typeface="League Spartan"/>
              </a:rPr>
              <a:t>3 milhões+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455300"/>
            <a:ext cx="1649984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2DECD"/>
                </a:solidFill>
                <a:latin typeface="Helvetica"/>
              </a:rPr>
              <a:t>trabalham no</a:t>
            </a:r>
            <a:r>
              <a:rPr sz="780" b="1" i="0">
                <a:solidFill>
                  <a:srgbClr val="E2DECD"/>
                </a:solidFill>
                <a:latin typeface="Helvetica"/>
              </a:rPr>
              <a:t> SUS</a:t>
            </a:r>
            <a:r>
              <a:rPr sz="780" b="0" i="0">
                <a:solidFill>
                  <a:srgbClr val="E2DECD"/>
                </a:solidFill>
                <a:latin typeface="Helvetica"/>
              </a:rPr>
              <a:t> brasileiro.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789824"/>
            <a:ext cx="1361313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7C31C"/>
                </a:solidFill>
                <a:latin typeface="League Spartan"/>
              </a:rPr>
              <a:t>2,4 milhões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4051629"/>
            <a:ext cx="1906460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2DDCC"/>
                </a:solidFill>
                <a:latin typeface="Helvetica"/>
              </a:rPr>
              <a:t>trabalham na</a:t>
            </a:r>
            <a:r>
              <a:rPr sz="780" b="1" i="0">
                <a:solidFill>
                  <a:srgbClr val="E2DDCC"/>
                </a:solidFill>
                <a:latin typeface="Helvetica"/>
              </a:rPr>
              <a:t> educação</a:t>
            </a:r>
            <a:r>
              <a:rPr sz="780" b="0" i="0">
                <a:solidFill>
                  <a:srgbClr val="E2DDCC"/>
                </a:solidFill>
                <a:latin typeface="Helvetica"/>
              </a:rPr>
              <a:t> brasileira.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4386089"/>
            <a:ext cx="97155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7C31C"/>
                </a:solidFill>
                <a:latin typeface="League Spartan"/>
              </a:rPr>
              <a:t>451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4647957"/>
            <a:ext cx="2293620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2DDCE"/>
                </a:solidFill>
                <a:latin typeface="Helvetica"/>
              </a:rPr>
              <a:t>trabalham na</a:t>
            </a:r>
            <a:r>
              <a:rPr sz="780" b="1" i="0">
                <a:solidFill>
                  <a:srgbClr val="E2DDCE"/>
                </a:solidFill>
                <a:latin typeface="Helvetica"/>
              </a:rPr>
              <a:t> assistência social</a:t>
            </a:r>
            <a:r>
              <a:rPr sz="780" b="0" i="0">
                <a:solidFill>
                  <a:srgbClr val="E2DDCE"/>
                </a:solidFill>
                <a:latin typeface="Helvetica"/>
              </a:rPr>
              <a:t> brasileira.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37039" y="1897484"/>
            <a:ext cx="1846960" cy="162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0">
                <a:solidFill>
                  <a:srgbClr val="FFFFFF"/>
                </a:solidFill>
                <a:latin typeface="League Spartan"/>
              </a:rPr>
              <a:t>QUEM CUIDA DO BRASIL.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2213" y="2108839"/>
            <a:ext cx="3171786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2DDCD"/>
                </a:solidFill>
                <a:latin typeface="Helvetica"/>
              </a:rPr>
              <a:t>Uma funcionária pública, quase sempre, uma mulher,</a:t>
            </a:r>
          </a:p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2DDCD"/>
                </a:solidFill>
                <a:latin typeface="Helvetica"/>
              </a:rPr>
              <a:t>adoecida no trabalho.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1345" y="2635013"/>
            <a:ext cx="922654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7C31C"/>
                </a:solidFill>
                <a:latin typeface="League Spartan"/>
              </a:rPr>
              <a:t>97,6%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0675" y="2896818"/>
            <a:ext cx="2473325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1DCCC"/>
                </a:solidFill>
                <a:latin typeface="Helvetica"/>
              </a:rPr>
              <a:t>na</a:t>
            </a:r>
            <a:r>
              <a:rPr sz="780" b="1" i="0">
                <a:solidFill>
                  <a:srgbClr val="E1DCCC"/>
                </a:solidFill>
                <a:latin typeface="Helvetica"/>
              </a:rPr>
              <a:t> educação</a:t>
            </a:r>
            <a:r>
              <a:rPr sz="780" b="0" i="0">
                <a:solidFill>
                  <a:srgbClr val="E1DCCC"/>
                </a:solidFill>
                <a:latin typeface="Helvetica"/>
              </a:rPr>
              <a:t> ligam o adoecimento ao trabalho.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467" y="3231278"/>
            <a:ext cx="835532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7C31C"/>
                </a:solidFill>
                <a:latin typeface="League Spartan"/>
              </a:rPr>
              <a:t>81,1%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1228" y="3493146"/>
            <a:ext cx="2112772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0DBCC"/>
                </a:solidFill>
                <a:latin typeface="Helvetica"/>
              </a:rPr>
              <a:t>na</a:t>
            </a:r>
            <a:r>
              <a:rPr sz="780" b="1" i="0">
                <a:solidFill>
                  <a:srgbClr val="E0DBCC"/>
                </a:solidFill>
                <a:latin typeface="Helvetica"/>
              </a:rPr>
              <a:t> saúde</a:t>
            </a:r>
            <a:r>
              <a:rPr sz="780" b="0" i="0">
                <a:solidFill>
                  <a:srgbClr val="E0DBCC"/>
                </a:solidFill>
                <a:latin typeface="Helvetica"/>
              </a:rPr>
              <a:t> dizem o mesmo</a:t>
            </a:r>
            <a:r>
              <a:rPr sz="780" b="0" i="1">
                <a:solidFill>
                  <a:srgbClr val="E0DBCC"/>
                </a:solidFill>
                <a:latin typeface="Helvetica"/>
              </a:rPr>
              <a:t> (São Paulo)</a:t>
            </a:r>
            <a:r>
              <a:rPr sz="780" b="0" i="0">
                <a:solidFill>
                  <a:srgbClr val="E0DBCC"/>
                </a:solidFill>
                <a:latin typeface="Helvetica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7090" y="3827606"/>
            <a:ext cx="926909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7C31C"/>
                </a:solidFill>
                <a:latin typeface="League Spartan"/>
              </a:rPr>
              <a:t>60,3%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8396" y="4089411"/>
            <a:ext cx="3005667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0DBCC"/>
                </a:solidFill>
                <a:latin typeface="Helvetica"/>
              </a:rPr>
              <a:t>na</a:t>
            </a:r>
            <a:r>
              <a:rPr sz="780" b="1" i="0">
                <a:solidFill>
                  <a:srgbClr val="E0DBCC"/>
                </a:solidFill>
                <a:latin typeface="Helvetica"/>
              </a:rPr>
              <a:t> educação</a:t>
            </a:r>
            <a:r>
              <a:rPr sz="780" b="0" i="0">
                <a:solidFill>
                  <a:srgbClr val="E0DBCC"/>
                </a:solidFill>
                <a:latin typeface="Helvetica"/>
              </a:rPr>
              <a:t> já</a:t>
            </a:r>
            <a:r>
              <a:rPr sz="780" b="1" i="0">
                <a:solidFill>
                  <a:srgbClr val="F7C31C"/>
                </a:solidFill>
                <a:latin typeface="Helvetica"/>
              </a:rPr>
              <a:t> se afastaram por problemas de saúde</a:t>
            </a:r>
            <a:r>
              <a:rPr sz="780" b="0" i="0">
                <a:solidFill>
                  <a:srgbClr val="E0DBCC"/>
                </a:solidFill>
                <a:latin typeface="Helvetica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096" y="4423935"/>
            <a:ext cx="751903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7C31C"/>
                </a:solidFill>
                <a:latin typeface="League Spartan"/>
              </a:rPr>
              <a:t>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1916" y="4685740"/>
            <a:ext cx="1942083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0DBCC"/>
                </a:solidFill>
                <a:latin typeface="Helvetica"/>
              </a:rPr>
              <a:t>de quem faz o SUS</a:t>
            </a:r>
            <a:r>
              <a:rPr sz="780" b="1" i="0">
                <a:solidFill>
                  <a:srgbClr val="E0DBCC"/>
                </a:solidFill>
                <a:latin typeface="Helvetica"/>
              </a:rPr>
              <a:t> são mulheres</a:t>
            </a:r>
            <a:r>
              <a:rPr sz="780" b="0" i="0">
                <a:solidFill>
                  <a:srgbClr val="E0DBCC"/>
                </a:solidFill>
                <a:latin typeface="Helvetica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6661405"/>
            <a:ext cx="477710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867D6F"/>
                </a:solidFill>
                <a:latin typeface="League Spartan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6541834"/>
            <a:ext cx="6463986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0" i="0">
                <a:solidFill>
                  <a:srgbClr val="8E7F71"/>
                </a:solidFill>
                <a:latin typeface="Helvetica"/>
              </a:rPr>
              <a:t>Ministério da Saúde 2025 · ANS mai/2026 · CNES · Censo Escolar/INEP 2024 · Censo SUAS 2023 · Adoecimento mental, afastamento e vínculo ao trabalho: Apeoesp, São Paulo,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31785" y="470490"/>
            <a:ext cx="4052214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spc="-14">
                <a:solidFill>
                  <a:srgbClr val="F7C31C"/>
                </a:solidFill>
                <a:latin typeface="League Spartan"/>
              </a:rPr>
              <a:t>COMO A PAAPS E A</a:t>
            </a:r>
            <a:r>
              <a:rPr sz="1360" b="1" i="0" spc="-14">
                <a:solidFill>
                  <a:srgbClr val="F5F1E1"/>
                </a:solidFill>
                <a:latin typeface="League Spartan"/>
              </a:rPr>
              <a:t> SERASA</a:t>
            </a:r>
            <a:r>
              <a:rPr sz="1360" b="1" i="0" spc="-14">
                <a:solidFill>
                  <a:srgbClr val="F7C31C"/>
                </a:solidFill>
                <a:latin typeface="League Spartan"/>
              </a:rPr>
              <a:t> SE CONVERSAM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813657"/>
            <a:ext cx="4625279" cy="64265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 spc="-15">
                <a:solidFill>
                  <a:srgbClr val="F5F1E1"/>
                </a:solidFill>
                <a:latin typeface="League Spartan"/>
              </a:rPr>
              <a:t>O endividamento entre servidores já preocupa</a:t>
            </a:r>
          </a:p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 spc="-15">
                <a:solidFill>
                  <a:srgbClr val="F5F1E1"/>
                </a:solidFill>
                <a:latin typeface="League Spartan"/>
              </a:rPr>
              <a:t>o governo brasileiro, e essa dívida</a:t>
            </a:r>
            <a:r>
              <a:rPr sz="1480" b="1" i="0" spc="-15">
                <a:solidFill>
                  <a:srgbClr val="F7C31C"/>
                </a:solidFill>
                <a:latin typeface="League Spartan"/>
              </a:rPr>
              <a:t> impacta a</a:t>
            </a:r>
          </a:p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 spc="-15">
                <a:solidFill>
                  <a:srgbClr val="F7C31C"/>
                </a:solidFill>
                <a:latin typeface="League Spartan"/>
              </a:rPr>
              <a:t>qualidade do atendimento</a:t>
            </a:r>
            <a:r>
              <a:rPr sz="1480" b="1" i="0" spc="-15">
                <a:solidFill>
                  <a:srgbClr val="F5F1E1"/>
                </a:solidFill>
                <a:latin typeface="League Spartan"/>
              </a:rPr>
              <a:t> que o cidadão recebe.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650777"/>
            <a:ext cx="6351141" cy="834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5F1E1"/>
                </a:solidFill>
                <a:latin typeface="Helvetica"/>
              </a:rPr>
              <a:t>78% dos brasileiros inadimplentes ganham até dois salários</a:t>
            </a:r>
          </a:p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5F1E1"/>
                </a:solidFill>
                <a:latin typeface="Helvetica"/>
              </a:rPr>
              <a:t>mínimos.</a:t>
            </a:r>
            <a:r>
              <a:rPr sz="1480" b="0" i="0">
                <a:solidFill>
                  <a:srgbClr val="E2DDCE"/>
                </a:solidFill>
                <a:latin typeface="Helvetica"/>
              </a:rPr>
              <a:t> O servidor municipal ganha, na média, R$ 2.640: 1,63</a:t>
            </a:r>
          </a:p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480" b="0" i="0">
                <a:solidFill>
                  <a:srgbClr val="E3DFCF"/>
                </a:solidFill>
                <a:latin typeface="Helvetica"/>
              </a:rPr>
              <a:t>salário mínimo.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685202"/>
            <a:ext cx="890397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F7C31C"/>
                </a:solidFill>
                <a:latin typeface="League Spartan"/>
              </a:rPr>
              <a:t>46%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4077446"/>
            <a:ext cx="1955101" cy="3333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7E2D3"/>
                </a:solidFill>
                <a:latin typeface="Helvetica"/>
              </a:rPr>
              <a:t>dos trabalhadores endividados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6E2D3"/>
                </a:solidFill>
                <a:latin typeface="Helvetica"/>
              </a:rPr>
              <a:t>relatam</a:t>
            </a:r>
            <a:r>
              <a:rPr sz="910" b="1" i="0">
                <a:solidFill>
                  <a:srgbClr val="E6E2D3"/>
                </a:solidFill>
                <a:latin typeface="Helvetica"/>
              </a:rPr>
              <a:t> exaustão extrema</a:t>
            </a:r>
            <a:r>
              <a:rPr sz="910" b="0" i="0">
                <a:solidFill>
                  <a:srgbClr val="E6E2D3"/>
                </a:solidFill>
                <a:latin typeface="Helvetica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5625" y="3685202"/>
            <a:ext cx="886142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F7C31C"/>
                </a:solidFill>
                <a:latin typeface="League Spartan"/>
              </a:rP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5625" y="4077446"/>
            <a:ext cx="1935289" cy="3333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5E0D1"/>
                </a:solidFill>
                <a:latin typeface="Helvetica"/>
              </a:rPr>
              <a:t>relatam</a:t>
            </a:r>
            <a:r>
              <a:rPr sz="910" b="1" i="0">
                <a:solidFill>
                  <a:srgbClr val="E5E0D1"/>
                </a:solidFill>
                <a:latin typeface="Helvetica"/>
              </a:rPr>
              <a:t> queda de atenção</a:t>
            </a:r>
            <a:r>
              <a:rPr sz="910" b="0" i="0">
                <a:solidFill>
                  <a:srgbClr val="E5E0D1"/>
                </a:solidFill>
                <a:latin typeface="Helvetica"/>
              </a:rPr>
              <a:t> no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5E0D1"/>
                </a:solidFill>
                <a:latin typeface="Helvetica"/>
              </a:rPr>
              <a:t>trabalho.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4437" y="3685202"/>
            <a:ext cx="671893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F7C31C"/>
                </a:solidFill>
                <a:latin typeface="League Spartan"/>
              </a:rPr>
              <a:t>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4437" y="4077446"/>
            <a:ext cx="2090420" cy="5000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6E1D2"/>
                </a:solidFill>
                <a:latin typeface="Helvetica"/>
              </a:rPr>
              <a:t>maior a chance de</a:t>
            </a:r>
            <a:r>
              <a:rPr sz="910" b="1" i="0">
                <a:solidFill>
                  <a:srgbClr val="E6E1D2"/>
                </a:solidFill>
                <a:latin typeface="Helvetica"/>
              </a:rPr>
              <a:t> erro no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E6E1D2"/>
                </a:solidFill>
                <a:latin typeface="Helvetica"/>
              </a:rPr>
              <a:t>atendimento</a:t>
            </a:r>
            <a:r>
              <a:rPr sz="910" b="0" i="0">
                <a:solidFill>
                  <a:srgbClr val="E6E1D2"/>
                </a:solidFill>
                <a:latin typeface="Helvetica"/>
              </a:rPr>
              <a:t>, quando quem está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6E1D2"/>
                </a:solidFill>
                <a:latin typeface="Helvetica"/>
              </a:rPr>
              <a:t>atendendo está</a:t>
            </a:r>
            <a:r>
              <a:rPr sz="910" b="1" i="0">
                <a:solidFill>
                  <a:srgbClr val="F7C31C"/>
                </a:solidFill>
                <a:latin typeface="Helvetica"/>
              </a:rPr>
              <a:t> esgotado</a:t>
            </a:r>
            <a:r>
              <a:rPr sz="910" b="0" i="0">
                <a:solidFill>
                  <a:srgbClr val="E6E1D2"/>
                </a:solidFill>
                <a:latin typeface="Helvetica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6661405"/>
            <a:ext cx="475678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888074"/>
                </a:solidFill>
                <a:latin typeface="League Spartan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5641" y="6403778"/>
            <a:ext cx="8688358" cy="2273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8C887F"/>
                </a:solidFill>
                <a:latin typeface="Helvetica"/>
              </a:rPr>
              <a:t>Inadimplência e renda: Serasa Experian</a:t>
            </a:r>
            <a:r>
              <a:rPr sz="640" b="0" i="0">
                <a:solidFill>
                  <a:srgbClr val="8C887F"/>
                </a:solidFill>
                <a:latin typeface="Helvetica"/>
              </a:rPr>
              <a:t>, Mapa da Inadimplência 2026 ·</a:t>
            </a:r>
            <a:r>
              <a:rPr sz="640" b="1" i="0">
                <a:solidFill>
                  <a:srgbClr val="8C887F"/>
                </a:solidFill>
                <a:latin typeface="Helvetica"/>
              </a:rPr>
              <a:t> Exaustão e atenção: SalaryFits</a:t>
            </a:r>
            <a:r>
              <a:rPr sz="640" b="0" i="0">
                <a:solidFill>
                  <a:srgbClr val="8C887F"/>
                </a:solidFill>
                <a:latin typeface="Helvetica"/>
              </a:rPr>
              <a:t>, Saúde Financeira e Bem-Estar do Trabalhador Brasileiro · Remuneração: Ipea, Atlas do Estado</a:t>
            </a:r>
          </a:p>
          <a:p>
            <a:pPr algn="r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A867D"/>
                </a:solidFill>
                <a:latin typeface="Helvetica"/>
              </a:rPr>
              <a:t>Brasileiro · Erro no atendimento: BMJ, 2022, revisão de 35 estudos · Medida Provisória 1.355/2026.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34677" y="460153"/>
            <a:ext cx="1949323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POR QUE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000" y="2880255"/>
            <a:ext cx="24003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sz="4320" b="1" i="0" spc="-130">
                <a:solidFill>
                  <a:srgbClr val="F7C31C"/>
                </a:solidFill>
                <a:latin typeface="League Spartan"/>
              </a:rPr>
              <a:t>R$ 3,5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3579937"/>
            <a:ext cx="1510982" cy="5853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0DCCD"/>
                </a:solidFill>
                <a:latin typeface="Helvetica"/>
              </a:rPr>
              <a:t>é o custo do INSS com</a:t>
            </a:r>
          </a:p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2DDCE"/>
                </a:solidFill>
                <a:latin typeface="Helvetica"/>
              </a:rPr>
              <a:t>afastamentos por</a:t>
            </a:r>
          </a:p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1DDCE"/>
                </a:solidFill>
                <a:latin typeface="Helvetica"/>
              </a:rPr>
              <a:t>transtorno mental</a:t>
            </a:r>
            <a:r>
              <a:rPr sz="850" b="0" i="0">
                <a:solidFill>
                  <a:srgbClr val="E1DDCE"/>
                </a:solidFill>
                <a:latin typeface="Helvetica"/>
              </a:rPr>
              <a:t>, por</a:t>
            </a:r>
          </a:p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0DCCD"/>
                </a:solidFill>
                <a:latin typeface="Helvetica"/>
              </a:rPr>
              <a:t>ano.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7411" y="3420492"/>
            <a:ext cx="2596923" cy="6775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78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-16">
                <a:solidFill>
                  <a:srgbClr val="F5F1E1"/>
                </a:solidFill>
                <a:latin typeface="League Spartan"/>
              </a:rPr>
              <a:t>SERASA, VAMOS JUNTOS</a:t>
            </a:r>
          </a:p>
          <a:p>
            <a:pPr algn="ctr">
              <a:lnSpc>
                <a:spcPts val="1778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-16">
                <a:solidFill>
                  <a:srgbClr val="F5F1E1"/>
                </a:solidFill>
                <a:latin typeface="League Spartan"/>
              </a:rPr>
              <a:t>TRAZER</a:t>
            </a:r>
            <a:r>
              <a:rPr sz="1560" b="1" i="0" spc="-16">
                <a:solidFill>
                  <a:srgbClr val="F7C31C"/>
                </a:solidFill>
                <a:latin typeface="League Spartan"/>
              </a:rPr>
              <a:t> QUEM CUIDA</a:t>
            </a:r>
          </a:p>
          <a:p>
            <a:pPr algn="ctr">
              <a:lnSpc>
                <a:spcPts val="1778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-16">
                <a:solidFill>
                  <a:srgbClr val="F7C31C"/>
                </a:solidFill>
                <a:latin typeface="League Spartan"/>
              </a:rPr>
              <a:t>DO BRASIL PARA PERTO</a:t>
            </a:r>
            <a:r>
              <a:rPr sz="1560" b="1" i="0" spc="-16">
                <a:solidFill>
                  <a:srgbClr val="F5F1E1"/>
                </a:solidFill>
                <a:latin typeface="League Spartan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4330" y="3026622"/>
            <a:ext cx="2070925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sz="4320" b="1" i="0" spc="-130">
                <a:solidFill>
                  <a:srgbClr val="F7C31C"/>
                </a:solidFill>
                <a:latin typeface="League Spartan"/>
              </a:rPr>
              <a:t>546 mil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4378" y="3726305"/>
            <a:ext cx="1606677" cy="4390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0DCCD"/>
                </a:solidFill>
                <a:latin typeface="Helvetica"/>
              </a:rPr>
              <a:t>afastamentos por</a:t>
            </a:r>
          </a:p>
          <a:p>
            <a:pPr algn="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1DCCD"/>
                </a:solidFill>
                <a:latin typeface="Helvetica"/>
              </a:rPr>
              <a:t>transtorno mental</a:t>
            </a:r>
            <a:r>
              <a:rPr sz="850" b="0" i="0">
                <a:solidFill>
                  <a:srgbClr val="E1DCCD"/>
                </a:solidFill>
                <a:latin typeface="Helvetica"/>
              </a:rPr>
              <a:t> em</a:t>
            </a:r>
          </a:p>
          <a:p>
            <a:pPr algn="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0DCCD"/>
                </a:solidFill>
                <a:latin typeface="Helvetica"/>
              </a:rPr>
              <a:t>2025, recorde da década.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6661405"/>
            <a:ext cx="474853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827B70"/>
                </a:solidFill>
                <a:latin typeface="League Spartan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517443"/>
            <a:ext cx="3670146" cy="10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47E72"/>
                </a:solidFill>
                <a:latin typeface="Helvetica"/>
              </a:rPr>
              <a:t>Afastamentos por transtorno mental e custo ao INSS: Ministério da Previdência Social.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86123" y="460153"/>
            <a:ext cx="1297876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53700" y="881041"/>
            <a:ext cx="1251838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5F1E1"/>
                </a:solidFill>
                <a:latin typeface="Helvetica"/>
              </a:rPr>
              <a:t>Diagnóstico 360</a:t>
            </a:r>
            <a:r>
              <a:rPr sz="590" b="1" i="0">
                <a:solidFill>
                  <a:srgbClr val="F5F1E1"/>
                </a:solidFill>
                <a:latin typeface="Helvetica"/>
              </a:rPr>
              <a:t>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53700" y="1336844"/>
            <a:ext cx="1270507" cy="2851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2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5F1E1"/>
                </a:solidFill>
                <a:latin typeface="Helvetica"/>
              </a:rPr>
              <a:t>Rodas de Equipe</a:t>
            </a:r>
          </a:p>
          <a:p>
            <a:pPr algn="l">
              <a:lnSpc>
                <a:spcPts val="1122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5F1E1"/>
                </a:solidFill>
                <a:latin typeface="Helvetica"/>
              </a:rPr>
              <a:t>PAAPS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53700" y="1871641"/>
            <a:ext cx="1189227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5F1E1"/>
                </a:solidFill>
                <a:latin typeface="Helvetica"/>
              </a:rPr>
              <a:t>Ponto de Apoio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3700" y="2034941"/>
            <a:ext cx="1120394" cy="987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78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5F1E1"/>
                </a:solidFill>
                <a:latin typeface="Helvetica"/>
              </a:rPr>
              <a:t>dados em tempo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546536"/>
            <a:ext cx="7437476" cy="236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spc="7">
                <a:solidFill>
                  <a:srgbClr val="F5F1E1"/>
                </a:solidFill>
                <a:latin typeface="League Spartan"/>
              </a:rPr>
              <a:t>TRABALHAR EM RODA NÃO É O JEITO BARATO DE ATENDER MUITA GENTE.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830000"/>
            <a:ext cx="6943987" cy="4536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86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spc="7">
                <a:solidFill>
                  <a:srgbClr val="F7C31C"/>
                </a:solidFill>
                <a:latin typeface="League Spartan"/>
              </a:rPr>
              <a:t>“FORMAR GESTORES E TRABALHAR A EQUIPE”</a:t>
            </a:r>
            <a:r>
              <a:rPr sz="1490" b="1" i="0" spc="7">
                <a:solidFill>
                  <a:srgbClr val="F5F1E1"/>
                </a:solidFill>
                <a:latin typeface="League Spartan"/>
              </a:rPr>
              <a:t> É A ÚNICA</a:t>
            </a:r>
          </a:p>
          <a:p>
            <a:pPr algn="l">
              <a:lnSpc>
                <a:spcPts val="1786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spc="7">
                <a:solidFill>
                  <a:srgbClr val="F5F1E1"/>
                </a:solidFill>
                <a:latin typeface="League Spartan"/>
              </a:rPr>
              <a:t>RECOMENDAÇÃO FORTE DA OMS EM SAÚDE MENTAL NO TRABALHO.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396735"/>
            <a:ext cx="8134925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5F1E1"/>
                </a:solidFill>
                <a:latin typeface="League Spartan"/>
              </a:rPr>
              <a:t>O modelo se sustenta com a própria equipe local e se paga com a economia em afastamentos que proporciona.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779" y="1673799"/>
            <a:ext cx="7035327" cy="167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7C31C"/>
                </a:solidFill>
                <a:latin typeface="Helvetica"/>
              </a:rPr>
              <a:t>Eficácia:</a:t>
            </a:r>
            <a:r>
              <a:rPr sz="1060" b="0" i="0">
                <a:solidFill>
                  <a:srgbClr val="EBE7D8"/>
                </a:solidFill>
                <a:latin typeface="Helvetica"/>
              </a:rPr>
              <a:t> é o único formato reconhecido pela OMS para o sofrimento em Saúde Mental no Trabalho.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779" y="1915035"/>
            <a:ext cx="4855089" cy="167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7C31C"/>
                </a:solidFill>
                <a:latin typeface="Helvetica"/>
              </a:rPr>
              <a:t>Alcance:</a:t>
            </a:r>
            <a:r>
              <a:rPr sz="1060" b="0" i="0">
                <a:solidFill>
                  <a:srgbClr val="ECE8D8"/>
                </a:solidFill>
                <a:latin typeface="Helvetica"/>
              </a:rPr>
              <a:t> uma psicóloga chega a</a:t>
            </a:r>
            <a:r>
              <a:rPr sz="1060" b="1" i="0">
                <a:solidFill>
                  <a:srgbClr val="ECE8D8"/>
                </a:solidFill>
                <a:latin typeface="Helvetica"/>
              </a:rPr>
              <a:t> 10 Servidores Públicos por hora</a:t>
            </a:r>
            <a:r>
              <a:rPr sz="1060" b="0" i="0">
                <a:solidFill>
                  <a:srgbClr val="ECE8D8"/>
                </a:solidFill>
                <a:latin typeface="Helvetica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779" y="2156208"/>
            <a:ext cx="5478207" cy="167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7C31C"/>
                </a:solidFill>
                <a:latin typeface="Helvetica"/>
              </a:rPr>
              <a:t>Cascata:</a:t>
            </a:r>
            <a:r>
              <a:rPr sz="1060" b="0" i="0">
                <a:solidFill>
                  <a:srgbClr val="ECE8D8"/>
                </a:solidFill>
                <a:latin typeface="Helvetica"/>
              </a:rPr>
              <a:t> o cuidado prestado à população melhora junto, e isso é mensurável.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1156" y="2367614"/>
            <a:ext cx="2329688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1E1"/>
                </a:solidFill>
                <a:latin typeface="League Spartan"/>
              </a:rPr>
              <a:t>Roda de Equipe</a:t>
            </a:r>
            <a:r>
              <a:rPr sz="1520" b="1" i="0">
                <a:solidFill>
                  <a:srgbClr val="F7C31C"/>
                </a:solidFill>
                <a:latin typeface="League Spartan"/>
              </a:rPr>
              <a:t> PAAPS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5244" y="3049848"/>
            <a:ext cx="2479294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7C31C"/>
                </a:solidFill>
                <a:latin typeface="Helvetica"/>
              </a:rPr>
              <a:t>elaborar as cenas do próprio trabalho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415" y="3042708"/>
            <a:ext cx="1461516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EE8D9"/>
                </a:solidFill>
                <a:latin typeface="Helvetica"/>
              </a:rPr>
              <a:t>elaboração de casos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1681" y="3334681"/>
            <a:ext cx="2429700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FEBDB"/>
                </a:solidFill>
                <a:latin typeface="Helvetica"/>
              </a:rPr>
              <a:t>relação e vínculo com quem é atendido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6588" y="3612430"/>
            <a:ext cx="2479675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0ECDD"/>
                </a:solidFill>
                <a:latin typeface="Helvetica"/>
              </a:rPr>
              <a:t>manejo coletivo e mediação de conflitos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5140" y="3619570"/>
            <a:ext cx="1784159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7C31C"/>
                </a:solidFill>
                <a:latin typeface="Helvetica"/>
              </a:rPr>
              <a:t>acordos de comunicação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1240" y="3904403"/>
            <a:ext cx="1746059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0EDDE"/>
                </a:solidFill>
                <a:latin typeface="Helvetica"/>
              </a:rPr>
              <a:t>autorregulação emocional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9065" y="3904403"/>
            <a:ext cx="1742567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EE9D9"/>
                </a:solidFill>
                <a:latin typeface="Helvetica"/>
              </a:rPr>
              <a:t>aprendizagem entre pares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0717" y="4189292"/>
            <a:ext cx="1816989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7C31C"/>
                </a:solidFill>
                <a:latin typeface="Helvetica"/>
              </a:rPr>
              <a:t>compartilhamento seguro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6584" y="4182152"/>
            <a:ext cx="1912746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DE8D9"/>
                </a:solidFill>
                <a:latin typeface="Helvetica"/>
              </a:rPr>
              <a:t>vínculo profissional protetivo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909" y="4645566"/>
            <a:ext cx="1512125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7C31C"/>
                </a:solidFill>
                <a:latin typeface="League Spartan"/>
              </a:rPr>
              <a:t>1 em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0421" y="5256894"/>
            <a:ext cx="22011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EDE8DB"/>
                </a:solidFill>
                <a:latin typeface="Helvetica"/>
              </a:rPr>
              <a:t>pessoas no mundo é afetada</a:t>
            </a:r>
          </a:p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ECE8DA"/>
                </a:solidFill>
                <a:latin typeface="Helvetica"/>
              </a:rPr>
              <a:t>pela solidão, segundo a OMS.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9156" y="4645566"/>
            <a:ext cx="100368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7C31C"/>
                </a:solidFill>
                <a:latin typeface="League Spartan"/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2388" y="5256894"/>
            <a:ext cx="2117343" cy="571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EEE6DA"/>
                </a:solidFill>
                <a:latin typeface="Helvetica"/>
              </a:rPr>
              <a:t>mortes por hora no mundo</a:t>
            </a:r>
          </a:p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EEE6D9"/>
                </a:solidFill>
                <a:latin typeface="Helvetica"/>
              </a:rPr>
              <a:t>são atribuídas ao isolamento</a:t>
            </a:r>
          </a:p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EFE5D5"/>
                </a:solidFill>
                <a:latin typeface="Helvetica"/>
              </a:rPr>
              <a:t>social.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000" y="6661405"/>
            <a:ext cx="475742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74A7BA"/>
                </a:solidFill>
                <a:latin typeface="League Spartan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6517443"/>
            <a:ext cx="8019757" cy="10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3A39D"/>
                </a:solidFill>
                <a:latin typeface="Helvetica"/>
              </a:rPr>
              <a:t>Solidão: OMS, Comissão sobre Conexão Social, relatório global de 2025 · ORGANIZAÇÃO MUNDIAL DA SAÚDE.</a:t>
            </a:r>
            <a:r>
              <a:rPr sz="640" b="0" i="1">
                <a:solidFill>
                  <a:srgbClr val="A3A39D"/>
                </a:solidFill>
                <a:latin typeface="Helvetica"/>
              </a:rPr>
              <a:t> Diretrizes da OMS sobre saúde mental no trabalho</a:t>
            </a:r>
            <a:r>
              <a:rPr sz="640" b="0" i="0">
                <a:solidFill>
                  <a:srgbClr val="A3A39D"/>
                </a:solidFill>
                <a:latin typeface="Helvetica"/>
              </a:rPr>
              <a:t>. Genebra: OMS, 2022.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90492" y="6661405"/>
            <a:ext cx="1393507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0" i="0" spc="26">
                <a:solidFill>
                  <a:srgbClr val="74B2C6"/>
                </a:solidFill>
                <a:latin typeface="League Spartan"/>
              </a:rPr>
              <a:t>PAAPS em campo, Minas Gerais.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91128" y="460153"/>
            <a:ext cx="1892871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PRÉ-VALIDAÇÃO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99628"/>
            <a:ext cx="1186053" cy="4084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570" b="1" i="0" spc="-19">
                <a:solidFill>
                  <a:srgbClr val="F7C31C"/>
                </a:solidFill>
                <a:latin typeface="League Spartan"/>
              </a:rPr>
              <a:t>+1.150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5156" y="1080878"/>
            <a:ext cx="2553839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 spc="-19">
                <a:solidFill>
                  <a:srgbClr val="F5F1E1"/>
                </a:solidFill>
                <a:latin typeface="League Spartan"/>
              </a:rPr>
              <a:t>PESSOAS</a:t>
            </a:r>
            <a:r>
              <a:rPr sz="1920" b="1" i="0" spc="-19">
                <a:solidFill>
                  <a:srgbClr val="F7C31C"/>
                </a:solidFill>
                <a:latin typeface="League Spartan"/>
              </a:rPr>
              <a:t> JÁ FORAM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350436"/>
            <a:ext cx="4338447" cy="5022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77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 spc="-19">
                <a:solidFill>
                  <a:srgbClr val="F5F1E1"/>
                </a:solidFill>
                <a:latin typeface="League Spartan"/>
              </a:rPr>
              <a:t>DIRETAMENTE IMPACTADAS PELAS</a:t>
            </a:r>
          </a:p>
          <a:p>
            <a:pPr algn="l">
              <a:lnSpc>
                <a:spcPts val="1977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 spc="-19">
                <a:solidFill>
                  <a:srgbClr val="F7C31C"/>
                </a:solidFill>
                <a:latin typeface="League Spartan"/>
              </a:rPr>
              <a:t>PESQUISAS DE CAMPO PAAPS</a:t>
            </a:r>
            <a:r>
              <a:rPr sz="1920" b="1" i="0" spc="-19">
                <a:solidFill>
                  <a:srgbClr val="F5F1E1"/>
                </a:solidFill>
                <a:latin typeface="League Spartan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123" y="2053022"/>
            <a:ext cx="2653496" cy="142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C31C"/>
                </a:solidFill>
                <a:latin typeface="League Spartan"/>
              </a:rPr>
              <a:t>Experiência 01 · Desterro do Melo (MG),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530" y="2295755"/>
            <a:ext cx="436435" cy="78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20"/>
              </a:lnSpc>
              <a:spcBef>
                <a:spcPts val="0"/>
              </a:spcBef>
              <a:spcAft>
                <a:spcPts val="0"/>
              </a:spcAft>
            </a:pPr>
            <a:r>
              <a:rPr sz="500" b="0" i="0">
                <a:solidFill>
                  <a:srgbClr val="F7C31C"/>
                </a:solidFill>
                <a:latin typeface="Helvetica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541" y="2279677"/>
            <a:ext cx="619442" cy="63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</a:pPr>
            <a:r>
              <a:rPr sz="400" b="1" i="0" spc="12">
                <a:solidFill>
                  <a:srgbClr val="F7C31C"/>
                </a:solidFill>
                <a:latin typeface="League Spartan"/>
              </a:rPr>
              <a:t>NA MÍDIA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4541" y="2324241"/>
            <a:ext cx="1040384" cy="736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80"/>
              </a:lnSpc>
              <a:spcBef>
                <a:spcPts val="0"/>
              </a:spcBef>
              <a:spcAft>
                <a:spcPts val="0"/>
              </a:spcAft>
            </a:pPr>
            <a:r>
              <a:rPr sz="459" b="0" i="0">
                <a:solidFill>
                  <a:srgbClr val="E0DBCB"/>
                </a:solidFill>
                <a:latin typeface="Helvetica"/>
              </a:rPr>
              <a:t>Programa Tô Indo, Globo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9604" y="2223212"/>
            <a:ext cx="2382266" cy="102449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1DCCD"/>
                </a:solidFill>
                <a:latin typeface="Helvetica"/>
              </a:rPr>
              <a:t>Um ano dentro da rotina da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1DCCD"/>
                </a:solidFill>
                <a:latin typeface="Helvetica"/>
              </a:rPr>
              <a:t>rede pública de uma cidade do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1DCCD"/>
                </a:solidFill>
                <a:latin typeface="Helvetica"/>
              </a:rPr>
              <a:t>interior de Minas Gerais, com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1DCCD"/>
                </a:solidFill>
                <a:latin typeface="Helvetica"/>
              </a:rPr>
              <a:t>redes de saúde e educação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1DCCD"/>
                </a:solidFill>
                <a:latin typeface="Helvetica"/>
              </a:rPr>
              <a:t>completas.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476" y="2053022"/>
            <a:ext cx="2730149" cy="142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C31C"/>
                </a:solidFill>
                <a:latin typeface="League Spartan"/>
              </a:rPr>
              <a:t>Experiência 02 · Complexo da Maré (RJ),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4883" y="2295755"/>
            <a:ext cx="436435" cy="78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20"/>
              </a:lnSpc>
              <a:spcBef>
                <a:spcPts val="0"/>
              </a:spcBef>
              <a:spcAft>
                <a:spcPts val="0"/>
              </a:spcAft>
            </a:pPr>
            <a:r>
              <a:rPr sz="500" b="0" i="0">
                <a:solidFill>
                  <a:srgbClr val="F7C31C"/>
                </a:solidFill>
                <a:latin typeface="Helvetic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0895" y="2279677"/>
            <a:ext cx="619442" cy="63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</a:pPr>
            <a:r>
              <a:rPr sz="400" b="1" i="0" spc="12">
                <a:solidFill>
                  <a:srgbClr val="F7C31C"/>
                </a:solidFill>
                <a:latin typeface="League Spartan"/>
              </a:rPr>
              <a:t>NA MÍDIA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0895" y="2324241"/>
            <a:ext cx="819276" cy="736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80"/>
              </a:lnSpc>
              <a:spcBef>
                <a:spcPts val="0"/>
              </a:spcBef>
              <a:spcAft>
                <a:spcPts val="0"/>
              </a:spcAft>
            </a:pPr>
            <a:r>
              <a:rPr sz="459" b="0" i="0">
                <a:solidFill>
                  <a:srgbClr val="E1DDCE"/>
                </a:solidFill>
                <a:latin typeface="Helvetica"/>
              </a:rPr>
              <a:t>TV Bandeirantes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5957" y="2223212"/>
            <a:ext cx="2382266" cy="102449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2DDCE"/>
                </a:solidFill>
                <a:latin typeface="Helvetica"/>
              </a:rPr>
              <a:t>Encontros semanais com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2DDCE"/>
                </a:solidFill>
                <a:latin typeface="Helvetica"/>
              </a:rPr>
              <a:t>mães de escola municipal,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2DDCE"/>
                </a:solidFill>
                <a:latin typeface="Helvetica"/>
              </a:rPr>
              <a:t>num território marcado pelo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3DFD0"/>
                </a:solidFill>
                <a:latin typeface="Helvetica"/>
              </a:rPr>
              <a:t>conflito armado urbano, ao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2DECF"/>
                </a:solidFill>
                <a:latin typeface="Helvetica"/>
              </a:rPr>
              <a:t>longo de um ano.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3829" y="2053022"/>
            <a:ext cx="3826375" cy="142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C31C"/>
                </a:solidFill>
                <a:latin typeface="League Spartan"/>
              </a:rPr>
              <a:t>Experiência 03 · Secretaria de Educação do RJ (PROINAPE),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2310" y="2223212"/>
            <a:ext cx="2382266" cy="8195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DCCD"/>
                </a:solidFill>
                <a:latin typeface="Helvetica"/>
              </a:rPr>
              <a:t>Mais de 300 horas de plantão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DCCD"/>
                </a:solidFill>
                <a:latin typeface="Helvetica"/>
              </a:rPr>
              <a:t>psicológico e grupos na Rede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DCCD"/>
                </a:solidFill>
                <a:latin typeface="Helvetica"/>
              </a:rPr>
              <a:t>Municipal de Educação do Rio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DCCD"/>
                </a:solidFill>
                <a:latin typeface="Helvetica"/>
              </a:rPr>
              <a:t>de Janeiro.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4300" y="3488122"/>
            <a:ext cx="3714055" cy="142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C31C"/>
                </a:solidFill>
                <a:latin typeface="League Spartan"/>
              </a:rPr>
              <a:t>Experiência 04 · Bela Vista de Minas e Materlândia (MG),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2780" y="3658312"/>
            <a:ext cx="2382266" cy="6146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E4D5"/>
                </a:solidFill>
                <a:latin typeface="Helvetica"/>
              </a:rPr>
              <a:t>Mais de 180 servidores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E5D6"/>
                </a:solidFill>
                <a:latin typeface="Helvetica"/>
              </a:rPr>
              <a:t>acompanhados, e o primeiro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E5D6"/>
                </a:solidFill>
                <a:latin typeface="Helvetica"/>
              </a:rPr>
              <a:t>diagnóstico de gestão pública.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653" y="3488122"/>
            <a:ext cx="1682178" cy="142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1E1"/>
                </a:solidFill>
                <a:latin typeface="League Spartan"/>
              </a:rPr>
              <a:t>Experiência 00 · DIGGING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9133" y="3658312"/>
            <a:ext cx="2382266" cy="8195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7C31C"/>
                </a:solidFill>
                <a:latin typeface="Helvetica"/>
              </a:rPr>
              <a:t>+12 anos de consultoria</a:t>
            </a:r>
            <a:r>
              <a:rPr sz="1150" b="0" i="0">
                <a:solidFill>
                  <a:srgbClr val="E8E3D4"/>
                </a:solidFill>
                <a:latin typeface="Helvetica"/>
              </a:rPr>
              <a:t>,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4D5"/>
                </a:solidFill>
                <a:latin typeface="Helvetica"/>
              </a:rPr>
              <a:t>com base em CNV, Executive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4D5"/>
                </a:solidFill>
                <a:latin typeface="Helvetica"/>
              </a:rPr>
              <a:t>Coaching, Antroposofia, Teoria</a:t>
            </a:r>
          </a:p>
          <a:p>
            <a:pPr algn="l">
              <a:lnSpc>
                <a:spcPts val="1613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E4D5"/>
                </a:solidFill>
                <a:latin typeface="Helvetica"/>
              </a:rPr>
              <a:t>U e Teoria da Mudança.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0913" y="4785337"/>
            <a:ext cx="4430236" cy="162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31">
                <a:solidFill>
                  <a:srgbClr val="F7C31C"/>
                </a:solidFill>
                <a:latin typeface="League Spartan"/>
              </a:rPr>
              <a:t>EM TODA REDE QUE ENTRAMOS, A RESPOSTA JÁ ESTAVA LÁ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8314" y="5008531"/>
            <a:ext cx="4395243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2D3"/>
                </a:solidFill>
                <a:latin typeface="Helvetica"/>
              </a:rPr>
              <a:t>Tudo que uma equipe precisa está nela mesma.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7891" y="5255419"/>
            <a:ext cx="3716153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6E2D3"/>
                </a:solidFill>
                <a:latin typeface="Helvetica"/>
              </a:rPr>
              <a:t>A PAAPS desvela Soluções e Potências.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000" y="6661405"/>
            <a:ext cx="477329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989186"/>
                </a:solidFill>
                <a:latin typeface="League Spartan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6403778"/>
            <a:ext cx="9117931" cy="2273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C958A"/>
                </a:solidFill>
                <a:latin typeface="Helvetica"/>
              </a:rPr>
              <a:t>Contagem interna da PAAPS, somando as pesquisas de campo: Desterro do Melo (MG), 2024 · Complexo da Maré (RJ), 2025 · Secretaria de Educação do RJ (PROINAPE), 2025 · Bela Vista de Minas e Materlândia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28B80"/>
                </a:solidFill>
                <a:latin typeface="Helvetica"/>
              </a:rPr>
              <a:t>(MG), 2025.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22801" y="460153"/>
            <a:ext cx="1461198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SOBRE NÓS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339713"/>
            <a:ext cx="4321362" cy="610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6"/>
              </a:lnSpc>
              <a:spcBef>
                <a:spcPts val="0"/>
              </a:spcBef>
              <a:spcAft>
                <a:spcPts val="0"/>
              </a:spcAft>
            </a:pPr>
            <a:r>
              <a:rPr sz="2340" b="1" i="0" spc="-23">
                <a:solidFill>
                  <a:srgbClr val="F5F1E1"/>
                </a:solidFill>
                <a:latin typeface="League Spartan"/>
              </a:rPr>
              <a:t>A EMPRESA QUE OPERA A</a:t>
            </a:r>
          </a:p>
          <a:p>
            <a:pPr algn="l">
              <a:lnSpc>
                <a:spcPts val="2406"/>
              </a:lnSpc>
              <a:spcBef>
                <a:spcPts val="0"/>
              </a:spcBef>
              <a:spcAft>
                <a:spcPts val="0"/>
              </a:spcAft>
            </a:pPr>
            <a:r>
              <a:rPr sz="2340" b="1" i="0" spc="-23">
                <a:solidFill>
                  <a:srgbClr val="F5F1E1"/>
                </a:solidFill>
                <a:latin typeface="League Spartan"/>
              </a:rPr>
              <a:t>PAAPS FATURA DESDE 2003.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104234"/>
            <a:ext cx="7593256" cy="3716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6E1D0"/>
                </a:solidFill>
                <a:latin typeface="Helvetica"/>
              </a:rPr>
              <a:t>A PAAPS é a transposição para a rede pública de um método de desenvolvimento humano que a DIGGING opera no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7E2D2"/>
                </a:solidFill>
                <a:latin typeface="Helvetica"/>
              </a:rPr>
              <a:t>mercado corporativo desde 2003.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254" y="2579391"/>
            <a:ext cx="4971155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E7E1D0"/>
                </a:solidFill>
                <a:latin typeface="Helvetica"/>
              </a:rPr>
              <a:t>A DIGGING executa um trabalho artesanal, que atende poucos clientes.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254" y="2775299"/>
            <a:ext cx="5164700" cy="19481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7C31C"/>
                </a:solidFill>
                <a:latin typeface="League Spartan"/>
              </a:rPr>
              <a:t>R$ 1,16 milhão</a:t>
            </a:r>
            <a:r>
              <a:rPr sz="1040" b="0" i="0">
                <a:solidFill>
                  <a:srgbClr val="E7E1D1"/>
                </a:solidFill>
                <a:latin typeface="Helvetica"/>
              </a:rPr>
              <a:t> faturado nos quatro exercícios fechados, de 2022 a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055479"/>
            <a:ext cx="7434479" cy="2674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5CDBC"/>
                </a:solidFill>
                <a:latin typeface="Helvetica"/>
              </a:rPr>
              <a:t>Consultoria em Desenvolvimento Organizacional, Facilitação de Diálogo e de Comunicação Não Violenta, Mediação de Conflitos, Projetos de Cultura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6CEBE"/>
                </a:solidFill>
                <a:latin typeface="Helvetica"/>
              </a:rPr>
              <a:t>(Barrett), Teambuildings, Educação Corporativa, Mentoring e Coaching Executivo.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5425" y="1405576"/>
            <a:ext cx="3898458" cy="142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1B9A6"/>
                </a:solidFill>
                <a:latin typeface="Helvetica"/>
              </a:rPr>
              <a:t>Ex-diretoria de planejamento estratégico do</a:t>
            </a:r>
            <a:r>
              <a:rPr sz="900" b="1" i="0">
                <a:solidFill>
                  <a:srgbClr val="F5F1E1"/>
                </a:solidFill>
                <a:latin typeface="League Spartan"/>
              </a:rPr>
              <a:t> Grupo Pão de Açúcar</a:t>
            </a:r>
            <a:r>
              <a:rPr sz="900" b="0" i="0">
                <a:solidFill>
                  <a:srgbClr val="C1B9A6"/>
                </a:solidFill>
                <a:latin typeface="Helvetica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5425" y="1636399"/>
            <a:ext cx="2239454" cy="142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1B9A6"/>
                </a:solidFill>
                <a:latin typeface="Helvetica"/>
              </a:rPr>
              <a:t>Ex-diretoria financeira da</a:t>
            </a:r>
            <a:r>
              <a:rPr sz="900" b="1" i="0">
                <a:solidFill>
                  <a:srgbClr val="F5F1E1"/>
                </a:solidFill>
                <a:latin typeface="League Spartan"/>
              </a:rPr>
              <a:t> FEBRABAN</a:t>
            </a:r>
            <a:r>
              <a:rPr sz="900" b="0" i="0">
                <a:solidFill>
                  <a:srgbClr val="C1B9A6"/>
                </a:solidFill>
                <a:latin typeface="Helvetica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5781" y="1505595"/>
            <a:ext cx="859218" cy="1950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12">
                <a:solidFill>
                  <a:srgbClr val="E8622A"/>
                </a:solidFill>
                <a:latin typeface="League Spartan"/>
              </a:rPr>
              <a:t>SÓCIOS DO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12">
                <a:solidFill>
                  <a:srgbClr val="E8622A"/>
                </a:solidFill>
                <a:latin typeface="League Spartan"/>
              </a:rPr>
              <a:t>MESMO CNPJ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5425" y="1931356"/>
            <a:ext cx="2358644" cy="142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1B9A6"/>
                </a:solidFill>
                <a:latin typeface="Helvetica"/>
              </a:rPr>
              <a:t>Fundada e liderada por duas mulheres.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534490"/>
            <a:ext cx="1602613" cy="132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5F1E1"/>
                </a:solidFill>
                <a:latin typeface="League Spartan"/>
              </a:rPr>
              <a:t>CNPJ</a:t>
            </a:r>
            <a:r>
              <a:rPr sz="830" b="0" i="0">
                <a:solidFill>
                  <a:srgbClr val="F7C31C"/>
                </a:solidFill>
                <a:latin typeface="Helvetica"/>
              </a:rPr>
              <a:t> 05.983.700/0001-67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3822247"/>
            <a:ext cx="5116445" cy="70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45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spc="-15">
                <a:solidFill>
                  <a:srgbClr val="F5F1E1"/>
                </a:solidFill>
                <a:latin typeface="League Spartan"/>
              </a:rPr>
              <a:t>A ferramenta mais valiosa de desenvolvimento</a:t>
            </a:r>
          </a:p>
          <a:p>
            <a:pPr algn="l">
              <a:lnSpc>
                <a:spcPts val="1845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spc="-15">
                <a:solidFill>
                  <a:srgbClr val="F5F1E1"/>
                </a:solidFill>
                <a:latin typeface="League Spartan"/>
              </a:rPr>
              <a:t>humano do mundo empresarial nunca chegou a quem</a:t>
            </a:r>
          </a:p>
          <a:p>
            <a:pPr algn="l">
              <a:lnSpc>
                <a:spcPts val="1845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spc="-15">
                <a:solidFill>
                  <a:srgbClr val="F5F1E1"/>
                </a:solidFill>
                <a:latin typeface="League Spartan"/>
              </a:rPr>
              <a:t>sustenta a rede pública.</a:t>
            </a:r>
            <a:r>
              <a:rPr sz="1490" b="1" i="0" spc="-15">
                <a:solidFill>
                  <a:srgbClr val="F7C31C"/>
                </a:solidFill>
                <a:latin typeface="League Spartan"/>
              </a:rPr>
              <a:t> É isso que a PAAPS faz.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6661405"/>
            <a:ext cx="476123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AAA391"/>
                </a:solidFill>
                <a:latin typeface="League Spartan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6403778"/>
            <a:ext cx="9111637" cy="2273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F9281"/>
                </a:solidFill>
                <a:latin typeface="Helvetica"/>
              </a:rPr>
              <a:t>DREs e balanços patrimoniais dos exercícios de 2022 a 2025 · Cartão CNPJ e QSA emitidos em 13/08/2026 · Certidão de Inteiro Teor da 8ª alteração contratual, JUCESP, 27/04/2026 · Logos: clientes atendidos pela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AA391"/>
                </a:solidFill>
                <a:latin typeface="Helvetica"/>
              </a:rPr>
              <a:t>consultoria.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61475" y="460153"/>
            <a:ext cx="2422525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MODELO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153143"/>
            <a:ext cx="10528863" cy="6258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E5E0D1"/>
                </a:solidFill>
                <a:latin typeface="Helvetica"/>
              </a:rPr>
              <a:t>Essencialmente, a PAAPS é metodologia de Rodas de Equipe: encontros de 1h, de até 10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E5E0D1"/>
                </a:solidFill>
                <a:latin typeface="Helvetica"/>
              </a:rPr>
              <a:t>Servidores Públicos, conduzidos por psicóloga formada no método.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4050" y="1955495"/>
            <a:ext cx="1764093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C31C"/>
                </a:solidFill>
                <a:latin typeface="League Spartan"/>
              </a:rPr>
              <a:t>~70 equipes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050" y="2356431"/>
            <a:ext cx="3938845" cy="5212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6E2D2"/>
                </a:solidFill>
                <a:latin typeface="Helvetica"/>
              </a:rPr>
              <a:t>Uma prefeitura de 500 Servidores Públicos se organiza em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7E2D2"/>
                </a:solidFill>
                <a:latin typeface="Helvetica"/>
              </a:rPr>
              <a:t>equipes de seis a oito pessoas, e a Roda acontece por equipe: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7E2D2"/>
                </a:solidFill>
                <a:latin typeface="Helvetica"/>
              </a:rPr>
              <a:t>são</a:t>
            </a:r>
            <a:r>
              <a:rPr sz="940" b="1" i="0">
                <a:solidFill>
                  <a:srgbClr val="E7E2D2"/>
                </a:solidFill>
                <a:latin typeface="Helvetica"/>
              </a:rPr>
              <a:t> ~70 Rodas por mês</a:t>
            </a:r>
            <a:r>
              <a:rPr sz="940" b="0" i="0">
                <a:solidFill>
                  <a:srgbClr val="E7E2D2"/>
                </a:solidFill>
                <a:latin typeface="Helvetic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7245" y="1955495"/>
            <a:ext cx="1299844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C31C"/>
                </a:solidFill>
                <a:latin typeface="League Spartan"/>
              </a:rPr>
              <a:t>R$ 1.100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7245" y="2356431"/>
            <a:ext cx="389621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8E4D5"/>
                </a:solidFill>
                <a:latin typeface="Helvetica"/>
              </a:rPr>
              <a:t>é o preço de uma Roda de Equipe PAAPS, e</a:t>
            </a:r>
            <a:r>
              <a:rPr sz="940" b="1" i="0">
                <a:solidFill>
                  <a:srgbClr val="E8E4D5"/>
                </a:solidFill>
                <a:latin typeface="Helvetica"/>
              </a:rPr>
              <a:t> a Roda que não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6E2D4"/>
                </a:solidFill>
                <a:latin typeface="Helvetica"/>
              </a:rPr>
              <a:t>acontece não é cobrada</a:t>
            </a:r>
            <a:r>
              <a:rPr sz="940" b="0" i="0">
                <a:solidFill>
                  <a:srgbClr val="E6E2D4"/>
                </a:solidFill>
                <a:latin typeface="Helvetic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441" y="1955495"/>
            <a:ext cx="1593659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C31C"/>
                </a:solidFill>
                <a:latin typeface="League Spartan"/>
              </a:rPr>
              <a:t>~R$ 77 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0164" y="1996662"/>
            <a:ext cx="798639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F7C31C"/>
                </a:solidFill>
                <a:latin typeface="League Spartan"/>
              </a:rPr>
              <a:t>MRR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441" y="2356431"/>
            <a:ext cx="3986051" cy="5212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6E2D2"/>
                </a:solidFill>
                <a:latin typeface="Helvetica"/>
              </a:rPr>
              <a:t>é o total mensal, pelas ~70 Rodas mensais contínuas, mais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6E1D2"/>
                </a:solidFill>
                <a:latin typeface="Helvetica"/>
              </a:rPr>
              <a:t>Encontros Estratégicos com lideranças e 1 Treinamento Mensal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6E1D1"/>
                </a:solidFill>
                <a:latin typeface="Helvetica"/>
              </a:rPr>
              <a:t>gratuito.</a:t>
            </a:r>
            <a:r>
              <a:rPr sz="940" b="1" i="0">
                <a:solidFill>
                  <a:srgbClr val="E6E1D1"/>
                </a:solidFill>
                <a:latin typeface="Helvetica"/>
              </a:rPr>
              <a:t> ~R$ 924 mil por ano.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350" y="3120618"/>
            <a:ext cx="2541400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F7C31C"/>
                </a:solidFill>
                <a:latin typeface="League Spartan"/>
              </a:rPr>
              <a:t>~2,24 pessoas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350" y="3565948"/>
            <a:ext cx="3450376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E3DECE"/>
                </a:solidFill>
                <a:latin typeface="Helvetica"/>
              </a:rPr>
              <a:t>é quanto a equipe da PAAPS cresce a cada município novo: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948" y="3795152"/>
            <a:ext cx="2037842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3DECE"/>
                </a:solidFill>
                <a:latin typeface="Helvetica"/>
              </a:rPr>
              <a:t>2 psicólogos (CLT, local ou da região)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948" y="3934535"/>
            <a:ext cx="2372042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3DECE"/>
                </a:solidFill>
                <a:latin typeface="Helvetica"/>
              </a:rPr>
              <a:t>1 supervisor clínico dá conta de 7 municípios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948" y="4073981"/>
            <a:ext cx="1675828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3DFCE"/>
                </a:solidFill>
                <a:latin typeface="Helvetica"/>
              </a:rPr>
              <a:t>1 customer success cobre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350" y="4303660"/>
            <a:ext cx="3674866" cy="4241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4DFCE"/>
                </a:solidFill>
                <a:latin typeface="Helvetica"/>
              </a:rPr>
              <a:t>Somos obcecados com a qualidade da nossa entrega e impacto. Por</a:t>
            </a:r>
          </a:p>
          <a:p>
            <a:pPr algn="l"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4DFCE"/>
                </a:solidFill>
                <a:latin typeface="Helvetica"/>
              </a:rPr>
              <a:t>isso, as psicólogas locais PAAPS têm processos internos, que incluem</a:t>
            </a:r>
          </a:p>
          <a:p>
            <a:pPr algn="l"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4DFCE"/>
                </a:solidFill>
                <a:latin typeface="Helvetica"/>
              </a:rPr>
              <a:t>registros regulares e supervisões semanais estratégicas.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3453" y="3091082"/>
            <a:ext cx="1387348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520" b="1" i="0">
                <a:solidFill>
                  <a:srgbClr val="F7C31C"/>
                </a:solidFill>
                <a:latin typeface="League Spartan"/>
              </a:rPr>
              <a:t>~17%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3453" y="3657452"/>
            <a:ext cx="4268687" cy="4672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6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E5DFD0"/>
                </a:solidFill>
                <a:latin typeface="Helvetica"/>
              </a:rPr>
              <a:t>A mesma equipe (2 psicólogas + supervisora + CS) tem ~17% de margem</a:t>
            </a:r>
          </a:p>
          <a:p>
            <a:pPr algn="l">
              <a:lnSpc>
                <a:spcPts val="1226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E5DFCF"/>
                </a:solidFill>
                <a:latin typeface="Helvetica"/>
              </a:rPr>
              <a:t>destinadas para equipes com maior gravidade na demanda, encontros</a:t>
            </a:r>
          </a:p>
          <a:p>
            <a:pPr algn="l">
              <a:lnSpc>
                <a:spcPts val="1226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E4DECE"/>
                </a:solidFill>
                <a:latin typeface="Helvetica"/>
              </a:rPr>
              <a:t>estratégicos entre equipes, devolutivas e treinamentos com a gestão.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8383" y="3120618"/>
            <a:ext cx="1634426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F7C31C"/>
                </a:solidFill>
                <a:latin typeface="League Spartan"/>
              </a:rPr>
              <a:t>~R$ 438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3701" y="3181869"/>
            <a:ext cx="1396237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7C31C"/>
                </a:solidFill>
                <a:latin typeface="League Spartan"/>
              </a:rPr>
              <a:t>· ~60,1%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8383" y="3565948"/>
            <a:ext cx="3682584" cy="7789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E4DFCF"/>
                </a:solidFill>
                <a:latin typeface="Helvetica"/>
              </a:rPr>
              <a:t>é o que uma Roda custa para a PAAPS, entre folha, supervisão,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E5E0CF"/>
                </a:solidFill>
                <a:latin typeface="Helvetica"/>
              </a:rPr>
              <a:t>orquestração e imposto, e ela vende por R$ 1.100. Sobram</a:t>
            </a:r>
            <a:r>
              <a:rPr sz="860" b="1" i="0">
                <a:solidFill>
                  <a:srgbClr val="E5E0CF"/>
                </a:solidFill>
                <a:latin typeface="Helvetica"/>
              </a:rPr>
              <a:t> ~R$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5E0CF"/>
                </a:solidFill>
                <a:latin typeface="Helvetica"/>
              </a:rPr>
              <a:t>662 por Roda: ~60,1% de margem de contribuição</a:t>
            </a:r>
            <a:r>
              <a:rPr sz="860" b="0" i="0">
                <a:solidFill>
                  <a:srgbClr val="E5E0CF"/>
                </a:solidFill>
                <a:latin typeface="Helvetica"/>
              </a:rPr>
              <a:t>,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E5E0CF"/>
                </a:solidFill>
                <a:latin typeface="Helvetica"/>
              </a:rPr>
              <a:t>reinvestidos no desenvolvimento tecnológico, metodológico,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E5E0CF"/>
                </a:solidFill>
                <a:latin typeface="Helvetica"/>
              </a:rPr>
              <a:t>jurídico e estrutural da empresa, antes da estrutura fixa.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930362"/>
            <a:ext cx="11684000" cy="4673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2DECD"/>
                </a:solidFill>
                <a:latin typeface="Helvetica"/>
              </a:rPr>
              <a:t>As duas psicólogas moram na cidade ou na região, em CLT:</a:t>
            </a:r>
            <a:r>
              <a:rPr sz="1300" b="1" i="0">
                <a:solidFill>
                  <a:srgbClr val="F5F1E1"/>
                </a:solidFill>
                <a:latin typeface="Helvetica"/>
              </a:rPr>
              <a:t> ~R$ 144 mil por ano ficam no próprio município</a:t>
            </a:r>
            <a:r>
              <a:rPr sz="1300" b="0" i="0">
                <a:solidFill>
                  <a:srgbClr val="E2DECD"/>
                </a:solidFill>
                <a:latin typeface="Helvetica"/>
              </a:rPr>
              <a:t>. Depois de alguns anos, a prefeitura</a:t>
            </a:r>
          </a:p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2DDCD"/>
                </a:solidFill>
                <a:latin typeface="Helvetica"/>
              </a:rPr>
              <a:t>pode efetivar o cuidado com a própria equipe, e a PAAPS passa a supervisionar e licenciar o método.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6661405"/>
            <a:ext cx="477266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827C6D"/>
                </a:solidFill>
                <a:latin typeface="League Spartan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6403778"/>
            <a:ext cx="9285025" cy="2273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E846E"/>
                </a:solidFill>
                <a:latin typeface="Helvetica"/>
              </a:rPr>
              <a:t>A operação PAAPS entrou no contrato social em 1º de abril de 2026 · Custo de folha calculado sobre salário de R$ 6.000 com encargos do Simples Nacional e imposto no Anexo III, 4ª faixa, 12,97% · Modelo de negócio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7816C"/>
                </a:solidFill>
                <a:latin typeface="Helvetica"/>
              </a:rPr>
              <a:t>completo mediante solicitação.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3296" y="6661405"/>
            <a:ext cx="1310703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0" i="0" spc="26">
                <a:solidFill>
                  <a:srgbClr val="8E8672"/>
                </a:solidFill>
                <a:latin typeface="League Spartan"/>
              </a:rPr>
              <a:t>PAAPS Desterro do Melo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64597" y="460153"/>
            <a:ext cx="1319402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" y="2008331"/>
            <a:ext cx="1314069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7C31C"/>
                </a:solidFill>
                <a:latin typeface="League Spartan"/>
              </a:rPr>
              <a:t>R$ 26,9 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2240795"/>
            <a:ext cx="872998" cy="914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F5F1E1"/>
                </a:solidFill>
                <a:latin typeface="Helvetica"/>
              </a:rPr>
              <a:t>(maio de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2348875"/>
            <a:ext cx="3784564" cy="5212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5E0D1"/>
                </a:solidFill>
                <a:latin typeface="Helvetica"/>
              </a:rPr>
              <a:t>previsto em ata para acolher a saúde mental de</a:t>
            </a:r>
            <a:r>
              <a:rPr sz="940" b="1" i="0">
                <a:solidFill>
                  <a:srgbClr val="E5E0D1"/>
                </a:solidFill>
                <a:latin typeface="Helvetica"/>
              </a:rPr>
              <a:t> servidores,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5E1D2"/>
                </a:solidFill>
                <a:latin typeface="Helvetica"/>
              </a:rPr>
              <a:t>empregados públicos, estagiários e prestadores de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5E1D1"/>
                </a:solidFill>
                <a:latin typeface="Helvetica"/>
              </a:rPr>
              <a:t>serviço</a:t>
            </a:r>
            <a:r>
              <a:rPr sz="940" b="0" i="0">
                <a:solidFill>
                  <a:srgbClr val="E5E1D1"/>
                </a:solidFill>
                <a:latin typeface="Helvetica"/>
              </a:rPr>
              <a:t>, e</a:t>
            </a:r>
            <a:r>
              <a:rPr sz="940" b="1" i="0">
                <a:solidFill>
                  <a:srgbClr val="E5E1D1"/>
                </a:solidFill>
                <a:latin typeface="Helvetica"/>
              </a:rPr>
              <a:t> a ata prevê uso por estados e municípios</a:t>
            </a:r>
            <a:r>
              <a:rPr sz="940" b="0" i="0">
                <a:solidFill>
                  <a:srgbClr val="E5E1D1"/>
                </a:solidFill>
                <a:latin typeface="Helvetic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2937590"/>
            <a:ext cx="1307338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7C31C"/>
                </a:solidFill>
                <a:latin typeface="League Spartan"/>
              </a:rPr>
              <a:t>R$ 65,9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3170117"/>
            <a:ext cx="592455" cy="914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F5F1E1"/>
                </a:solidFill>
                <a:latin typeface="Helvetica"/>
              </a:rPr>
              <a:t>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3278134"/>
            <a:ext cx="38720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5E1D2"/>
                </a:solidFill>
                <a:latin typeface="Helvetica"/>
              </a:rPr>
              <a:t>destinado aos municípios pelo IGD.</a:t>
            </a:r>
            <a:r>
              <a:rPr sz="940" b="1" i="0">
                <a:solidFill>
                  <a:srgbClr val="E5E1D2"/>
                </a:solidFill>
                <a:latin typeface="Helvetica"/>
              </a:rPr>
              <a:t> Saldo para formação de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7E2D3"/>
                </a:solidFill>
                <a:latin typeface="Helvetica"/>
              </a:rPr>
              <a:t>equipe SUAS.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8045" y="1990610"/>
            <a:ext cx="1088453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C31C"/>
                </a:solidFill>
                <a:latin typeface="League Spartan"/>
              </a:rPr>
              <a:t>55,2%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8045" y="2391547"/>
            <a:ext cx="3921536" cy="69494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7E3D4"/>
                </a:solidFill>
                <a:latin typeface="Helvetica"/>
              </a:rPr>
              <a:t>das/os psicólogas/os brasileiras/os precisa de mais de um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8E3D4"/>
                </a:solidFill>
                <a:latin typeface="Helvetica"/>
              </a:rPr>
              <a:t>vínculo de trabalho para viver. O Conselho Federal registra, na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8E4D4"/>
                </a:solidFill>
                <a:latin typeface="Helvetica"/>
              </a:rPr>
              <a:t>maior pesquisa já feita sobre a profissão,</a:t>
            </a:r>
            <a:r>
              <a:rPr sz="940" b="1" i="0">
                <a:solidFill>
                  <a:srgbClr val="E8E4D4"/>
                </a:solidFill>
                <a:latin typeface="Helvetica"/>
              </a:rPr>
              <a:t> "vínculos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9E4D5"/>
                </a:solidFill>
                <a:latin typeface="Helvetica"/>
              </a:rPr>
              <a:t>precários"</a:t>
            </a:r>
            <a:r>
              <a:rPr sz="940" b="0" i="0">
                <a:solidFill>
                  <a:srgbClr val="E9E4D5"/>
                </a:solidFill>
                <a:latin typeface="Helvetica"/>
              </a:rPr>
              <a:t> e</a:t>
            </a:r>
            <a:r>
              <a:rPr sz="940" b="1" i="0">
                <a:solidFill>
                  <a:srgbClr val="E9E4D5"/>
                </a:solidFill>
                <a:latin typeface="Helvetica"/>
              </a:rPr>
              <a:t> "condições de sobrevivência"</a:t>
            </a:r>
            <a:r>
              <a:rPr sz="940" b="0" i="0">
                <a:solidFill>
                  <a:srgbClr val="E9E4D5"/>
                </a:solidFill>
                <a:latin typeface="Helvetica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1241" y="2019112"/>
            <a:ext cx="2735994" cy="167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 spc="21">
                <a:solidFill>
                  <a:srgbClr val="F5F1E1"/>
                </a:solidFill>
                <a:latin typeface="League Spartan"/>
              </a:rPr>
              <a:t>MÉTODO JÁ LICENCIADO NA EUROPA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1241" y="2182317"/>
            <a:ext cx="966089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C31C"/>
                </a:solidFill>
                <a:latin typeface="League Spartan"/>
              </a:rPr>
              <a:t>200+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1241" y="2583253"/>
            <a:ext cx="3875604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7E2D3"/>
                </a:solidFill>
                <a:latin typeface="Helvetica"/>
              </a:rPr>
              <a:t>organizações no Reino Unido e na Irlanda conduzem um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E7E2D3"/>
                </a:solidFill>
                <a:latin typeface="Helvetica"/>
              </a:rPr>
              <a:t>encontro mensal de equipe</a:t>
            </a:r>
            <a:r>
              <a:rPr sz="940" b="1" i="0">
                <a:solidFill>
                  <a:srgbClr val="E7E2D3"/>
                </a:solidFill>
                <a:latin typeface="Helvetica"/>
              </a:rPr>
              <a:t> desde 2009</a:t>
            </a:r>
            <a:r>
              <a:rPr sz="940" b="0" i="0">
                <a:solidFill>
                  <a:srgbClr val="E7E2D3"/>
                </a:solidFill>
                <a:latin typeface="Helvetica"/>
              </a:rPr>
              <a:t>, sob licença anual do</a:t>
            </a:r>
          </a:p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8E3D4"/>
                </a:solidFill>
                <a:latin typeface="Helvetica"/>
              </a:rPr>
              <a:t>Schwartz Center</a:t>
            </a:r>
            <a:r>
              <a:rPr sz="940" b="0" i="0">
                <a:solidFill>
                  <a:srgbClr val="E8E3D4"/>
                </a:solidFill>
                <a:latin typeface="Helvetica"/>
              </a:rPr>
              <a:t>, de Boston.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3944848"/>
            <a:ext cx="1062228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 spc="-27">
                <a:solidFill>
                  <a:srgbClr val="F7C31C"/>
                </a:solidFill>
                <a:latin typeface="League Spartan"/>
              </a:rPr>
              <a:t>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4340689"/>
            <a:ext cx="1504823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League Spartan"/>
              </a:rPr>
              <a:t>5.570 municípios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4551601"/>
            <a:ext cx="4042623" cy="3288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0DCCD"/>
                </a:solidFill>
                <a:latin typeface="Helvetica"/>
              </a:rPr>
              <a:t>Todos os municípios do Brasil. Cada um tem servidores em saúde,</a:t>
            </a:r>
          </a:p>
          <a:p>
            <a:pPr algn="l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4E0D0"/>
                </a:solidFill>
                <a:latin typeface="Helvetica"/>
              </a:rPr>
              <a:t>educação e assistência.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4507" y="3944848"/>
            <a:ext cx="1106297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 spc="-27">
                <a:solidFill>
                  <a:srgbClr val="F7C31C"/>
                </a:solidFill>
                <a:latin typeface="League Spartan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4507" y="4340689"/>
            <a:ext cx="1508633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League Spartan"/>
              </a:rPr>
              <a:t>2.550 municípios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4507" y="4551601"/>
            <a:ext cx="3958402" cy="3288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7E2D3"/>
                </a:solidFill>
                <a:latin typeface="Helvetica"/>
              </a:rPr>
              <a:t>Os acima de 10 mil habitantes, que comportam contrato direto ou</a:t>
            </a:r>
          </a:p>
          <a:p>
            <a:pPr algn="l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4E0D1"/>
                </a:solidFill>
                <a:latin typeface="Helvetica"/>
              </a:rPr>
              <a:t>licença:</a:t>
            </a:r>
            <a:r>
              <a:rPr sz="910" b="1" i="0">
                <a:solidFill>
                  <a:srgbClr val="F5F1E1"/>
                </a:solidFill>
                <a:latin typeface="Helvetica"/>
              </a:rPr>
              <a:t> ~R$ 724 milhões por ano</a:t>
            </a:r>
            <a:r>
              <a:rPr sz="910" b="0" i="0">
                <a:solidFill>
                  <a:srgbClr val="E4E0D1"/>
                </a:solidFill>
                <a:latin typeface="Helvetica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1142" y="3944848"/>
            <a:ext cx="1122362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 spc="-27">
                <a:solidFill>
                  <a:srgbClr val="F7C31C"/>
                </a:solidFill>
                <a:latin typeface="League Spartan"/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1142" y="4340689"/>
            <a:ext cx="1351279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League Spartan"/>
              </a:rPr>
              <a:t>100 municípios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1142" y="4551601"/>
            <a:ext cx="3857621" cy="3288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3DECF"/>
                </a:solidFill>
                <a:latin typeface="Helvetica"/>
              </a:rPr>
              <a:t>A meta de cinco anos, 1,8% do total, com</a:t>
            </a:r>
            <a:r>
              <a:rPr sz="910" b="1" i="0">
                <a:solidFill>
                  <a:srgbClr val="F5F1E1"/>
                </a:solidFill>
                <a:latin typeface="Helvetica"/>
              </a:rPr>
              <a:t> ~R$ 13,5 milhões</a:t>
            </a:r>
            <a:r>
              <a:rPr sz="910" b="0" i="0">
                <a:solidFill>
                  <a:srgbClr val="E3DECF"/>
                </a:solidFill>
                <a:latin typeface="Helvetica"/>
              </a:rPr>
              <a:t> de</a:t>
            </a:r>
          </a:p>
          <a:p>
            <a:pPr algn="l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E3DFD0"/>
                </a:solidFill>
                <a:latin typeface="Helvetica"/>
              </a:rPr>
              <a:t>receita no ano 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6661405"/>
            <a:ext cx="477329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A29C91"/>
                </a:solidFill>
                <a:latin typeface="League Spartan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6290049"/>
            <a:ext cx="9076945" cy="34109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98278"/>
                </a:solidFill>
                <a:latin typeface="Helvetica"/>
              </a:rPr>
              <a:t>Ata de Registro de Preços nº 41/2026, Pregão nº 90.001/2026, Central de Compras do MGI, para servidores, empregados públicos, estagiários e prestadores · IGD, Índice de Gestão Descentralizada: Informe Bolsa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98277"/>
                </a:solidFill>
                <a:latin typeface="Helvetica"/>
              </a:rPr>
              <a:t>Família nº 46, MDS, competência de maio de 2024; formação de equipe autorizada pela Portaria MDS nº 1.041/2024, art. 12, XIII · Vínculos na psicologia: CensoPsi 2022, Conselho Federal de Psicologia, 20.151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88176"/>
                </a:solidFill>
                <a:latin typeface="Helvetica"/>
              </a:rPr>
              <a:t>respondentes · Rodas de equipe: Schwartz Center for Compassionate Healthcare, licenciador; a Point of Care Foundation conduziu o programa de 2009 a 2025 · Municípios: IBGE.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81171" y="460153"/>
            <a:ext cx="1802828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450" y="1155370"/>
            <a:ext cx="110331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 spc="19">
                <a:solidFill>
                  <a:srgbClr val="F7C31C"/>
                </a:solidFill>
                <a:latin typeface="League Spartan"/>
              </a:rPr>
              <a:t>INBOUND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546" y="1517107"/>
            <a:ext cx="2956812" cy="147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1E1"/>
                </a:solidFill>
                <a:latin typeface="League Spartan"/>
              </a:rPr>
              <a:t>Nossa comunicação fala com Servidores Públicos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546" y="1679821"/>
            <a:ext cx="3142714" cy="12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DDACB"/>
                </a:solidFill>
                <a:latin typeface="Helvetica"/>
              </a:rPr>
              <a:t>que discutem os próprios dilemas nos nossos comentários.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546" y="1863247"/>
            <a:ext cx="999109" cy="121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 spc="8">
                <a:solidFill>
                  <a:srgbClr val="F7C31C"/>
                </a:solidFill>
                <a:latin typeface="League Spartan"/>
              </a:rPr>
              <a:t>@paaps.brasil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546" y="2213639"/>
            <a:ext cx="3789734" cy="2875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1E1"/>
                </a:solidFill>
                <a:latin typeface="League Spartan"/>
              </a:rPr>
              <a:t>Cada Servidor Público que nos segue tem o contato do próprio</a:t>
            </a:r>
          </a:p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1E1"/>
                </a:solidFill>
                <a:latin typeface="League Spartan"/>
              </a:rPr>
              <a:t>secretário: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46" y="2514500"/>
            <a:ext cx="1657223" cy="172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F7C31C"/>
                </a:solidFill>
                <a:latin typeface="League Spartan"/>
              </a:rPr>
              <a:t>Chegamos de dentro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46" y="2696900"/>
            <a:ext cx="3661304" cy="12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0DED0"/>
                </a:solidFill>
                <a:latin typeface="Helvetica"/>
              </a:rPr>
              <a:t>São os Servidores Públicos que indicam a PAAPS na própria cidade.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46" y="3045616"/>
            <a:ext cx="3516914" cy="4312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1E1"/>
                </a:solidFill>
                <a:latin typeface="League Spartan"/>
              </a:rPr>
              <a:t>Atualmente chegam currículos de psicólogas toda semana</a:t>
            </a:r>
          </a:p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1E1"/>
                </a:solidFill>
                <a:latin typeface="League Spartan"/>
              </a:rPr>
              <a:t>para trabalhar conosco, sem que a gente precise ir atrás</a:t>
            </a:r>
          </a:p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1E1"/>
                </a:solidFill>
                <a:latin typeface="League Spartan"/>
              </a:rPr>
              <a:t>ainda.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46" y="3531011"/>
            <a:ext cx="1684909" cy="121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 spc="8">
                <a:solidFill>
                  <a:srgbClr val="F7C31C"/>
                </a:solidFill>
                <a:latin typeface="League Spartan"/>
              </a:rPr>
              <a:t>linkedin.com/company/paaps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8045" y="1180770"/>
            <a:ext cx="1249489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 spc="19">
                <a:solidFill>
                  <a:srgbClr val="F7C31C"/>
                </a:solidFill>
                <a:latin typeface="League Spartan"/>
              </a:rPr>
              <a:t>OUTBOUND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5330" y="1460142"/>
            <a:ext cx="3208652" cy="303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EBE8D9"/>
                </a:solidFill>
                <a:latin typeface="Helvetica"/>
              </a:rPr>
              <a:t>Prospecção por e-mail, automatizada e aprimorada em</a:t>
            </a:r>
          </a:p>
          <a:p>
            <a:pPr algn="l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EBE8D9"/>
                </a:solidFill>
                <a:latin typeface="Helvetica"/>
              </a:rPr>
              <a:t>qualidade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5330" y="1858096"/>
            <a:ext cx="1381252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EBE8D9"/>
                </a:solidFill>
                <a:latin typeface="Helvetica"/>
              </a:rPr>
              <a:t>Consórcios públicos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5330" y="2104159"/>
            <a:ext cx="3548160" cy="3039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EAE8D9"/>
                </a:solidFill>
                <a:latin typeface="Helvetica"/>
              </a:rPr>
              <a:t>Licenciamento do método, com supervisão sempre feita pela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EBE7D9"/>
                </a:solidFill>
                <a:latin typeface="Helvetica"/>
              </a:rPr>
              <a:t>PAAPS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5330" y="2502177"/>
            <a:ext cx="2726402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EBE8D9"/>
                </a:solidFill>
                <a:latin typeface="Helvetica"/>
              </a:rPr>
              <a:t>Community led growth: programa de indicação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5330" y="2748303"/>
            <a:ext cx="2914552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EBE8D9"/>
                </a:solidFill>
                <a:latin typeface="Helvetica"/>
              </a:rPr>
              <a:t>Associações municipalistas e entidades de classe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5330" y="2994365"/>
            <a:ext cx="2303843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EBE8D9"/>
                </a:solidFill>
                <a:latin typeface="Helvetica"/>
              </a:rPr>
              <a:t>Congressos e eventos do setor público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5330" y="3240428"/>
            <a:ext cx="2780052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EBE8D9"/>
                </a:solidFill>
                <a:latin typeface="Helvetica"/>
              </a:rPr>
              <a:t>Emendas parlamentares como fonte de recurso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5330" y="3486490"/>
            <a:ext cx="3539992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EAE7D7"/>
                </a:solidFill>
                <a:latin typeface="Helvetica"/>
              </a:rPr>
              <a:t>Ata de Registro de Preços com adesão de outros municípios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1241" y="1180770"/>
            <a:ext cx="1825053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 spc="19">
                <a:solidFill>
                  <a:srgbClr val="F7C31C"/>
                </a:solidFill>
                <a:latin typeface="League Spartan"/>
              </a:rPr>
              <a:t>POSICIONAMENTO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2020" y="1446260"/>
            <a:ext cx="1478470" cy="1447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 spc="18">
                <a:solidFill>
                  <a:srgbClr val="F7C31C"/>
                </a:solidFill>
                <a:latin typeface="League Spartan"/>
              </a:rPr>
              <a:t>PARA A PREFEITURA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2020" y="1620840"/>
            <a:ext cx="3655534" cy="10060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8E6D8"/>
                </a:solidFill>
                <a:latin typeface="Helvetica"/>
              </a:rPr>
              <a:t>cuidamos de quem cuida, devolvemos o dado da</a:t>
            </a:r>
          </a:p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8E6D8"/>
                </a:solidFill>
                <a:latin typeface="Helvetica"/>
              </a:rPr>
              <a:t>rede e auxiliamos estrategicamente a gestão, além</a:t>
            </a:r>
          </a:p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8E6D8"/>
                </a:solidFill>
                <a:latin typeface="Helvetica"/>
              </a:rPr>
              <a:t>de gerar emprego e circulação econômica regional:</a:t>
            </a:r>
          </a:p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9E6D8"/>
                </a:solidFill>
                <a:latin typeface="Helvetica"/>
              </a:rPr>
              <a:t>em média,</a:t>
            </a:r>
            <a:r>
              <a:rPr sz="1060" b="1" i="0">
                <a:solidFill>
                  <a:srgbClr val="F7C31C"/>
                </a:solidFill>
                <a:latin typeface="Helvetica"/>
              </a:rPr>
              <a:t> ~R$ 144 mil</a:t>
            </a:r>
            <a:r>
              <a:rPr sz="1060" b="0" i="0">
                <a:solidFill>
                  <a:srgbClr val="E9E6D8"/>
                </a:solidFill>
                <a:latin typeface="Helvetica"/>
              </a:rPr>
              <a:t> por ano em salário ficam na</a:t>
            </a:r>
          </a:p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9E6D8"/>
                </a:solidFill>
                <a:latin typeface="Helvetica"/>
              </a:rPr>
              <a:t>própria cidade.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2020" y="2671556"/>
            <a:ext cx="1480756" cy="1447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 spc="18">
                <a:solidFill>
                  <a:srgbClr val="F7C31C"/>
                </a:solidFill>
                <a:latin typeface="League Spartan"/>
              </a:rPr>
              <a:t>PARA A PSICÓLOGA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2020" y="2846072"/>
            <a:ext cx="3288752" cy="8049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9E6D8"/>
                </a:solidFill>
                <a:latin typeface="Helvetica"/>
              </a:rPr>
              <a:t>CLT, estabilidade, local ou regional, supervisão</a:t>
            </a:r>
          </a:p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8E5D6"/>
                </a:solidFill>
                <a:latin typeface="Helvetica"/>
              </a:rPr>
              <a:t>semanal e, após anos em campo, torna-se</a:t>
            </a:r>
          </a:p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6E2D2"/>
                </a:solidFill>
                <a:latin typeface="Helvetica"/>
              </a:rPr>
              <a:t>supervisora.</a:t>
            </a:r>
            <a:r>
              <a:rPr sz="1060" b="1" i="0">
                <a:solidFill>
                  <a:srgbClr val="F7C31C"/>
                </a:solidFill>
                <a:latin typeface="Helvetica"/>
              </a:rPr>
              <a:t> A carreira que o mercado não</a:t>
            </a:r>
          </a:p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7C31C"/>
                </a:solidFill>
                <a:latin typeface="Helvetica"/>
              </a:rPr>
              <a:t>oferece.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3944477"/>
            <a:ext cx="2002155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24">
                <a:solidFill>
                  <a:srgbClr val="F7C31C"/>
                </a:solidFill>
                <a:latin typeface="League Spartan"/>
              </a:rPr>
              <a:t>CICLO DE VENDA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046" y="4413782"/>
            <a:ext cx="473773" cy="114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29">
                <a:solidFill>
                  <a:srgbClr val="F7C31C"/>
                </a:solidFill>
                <a:latin typeface="League Spartan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046" y="4504389"/>
            <a:ext cx="177565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1E1"/>
                </a:solidFill>
                <a:latin typeface="League Spartan"/>
              </a:rPr>
              <a:t>Diagnóstico 360</a:t>
            </a:r>
            <a:r>
              <a:rPr sz="1060" b="1" i="0">
                <a:solidFill>
                  <a:srgbClr val="F5F1E1"/>
                </a:solidFill>
                <a:latin typeface="League Spartan"/>
              </a:rPr>
              <a:t>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046" y="4790509"/>
            <a:ext cx="1397190" cy="116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CDCAB6"/>
                </a:solidFill>
                <a:latin typeface="Helvetica"/>
              </a:rPr>
              <a:t>leitura da rede municipal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046" y="5408135"/>
            <a:ext cx="828166" cy="121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League Spartan"/>
              </a:rPr>
              <a:t>1 a 1,5 mês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14078" y="4413782"/>
            <a:ext cx="495998" cy="114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29">
                <a:solidFill>
                  <a:srgbClr val="F7C31C"/>
                </a:solidFill>
                <a:latin typeface="League Spartan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4078" y="4517089"/>
            <a:ext cx="2025967" cy="4323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02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1E1"/>
                </a:solidFill>
                <a:latin typeface="League Spartan"/>
              </a:rPr>
              <a:t>Proposta, parecer e</a:t>
            </a:r>
          </a:p>
          <a:p>
            <a:pPr algn="l">
              <a:lnSpc>
                <a:spcPts val="1702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1E1"/>
                </a:solidFill>
                <a:latin typeface="League Spartan"/>
              </a:rPr>
              <a:t>inexigibilidade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14078" y="5006663"/>
            <a:ext cx="1853628" cy="116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C9C5B8"/>
                </a:solidFill>
                <a:latin typeface="Helvetica"/>
              </a:rPr>
              <a:t>enquadramento jurídico do contrato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14078" y="5408135"/>
            <a:ext cx="834644" cy="121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League Spartan"/>
              </a:rPr>
              <a:t>3 semanas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2047" y="4413782"/>
            <a:ext cx="492950" cy="114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29">
                <a:solidFill>
                  <a:srgbClr val="F7C31C"/>
                </a:solidFill>
                <a:latin typeface="League Spartan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02047" y="4517089"/>
            <a:ext cx="1837626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1E1"/>
                </a:solidFill>
                <a:latin typeface="League Spartan"/>
              </a:rPr>
              <a:t>Execução própria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02047" y="4790509"/>
            <a:ext cx="1513966" cy="116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D0CBB8"/>
                </a:solidFill>
                <a:latin typeface="Helvetica"/>
              </a:rPr>
              <a:t>duas psicólogas em campo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2047" y="5408135"/>
            <a:ext cx="894841" cy="121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League Spartan"/>
              </a:rPr>
              <a:t>1º ao 2º 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0142" y="4413782"/>
            <a:ext cx="492315" cy="114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29">
                <a:solidFill>
                  <a:srgbClr val="F7C31C"/>
                </a:solidFill>
                <a:latin typeface="League Spartan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0142" y="4517089"/>
            <a:ext cx="1393825" cy="4323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02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1E1"/>
                </a:solidFill>
                <a:latin typeface="League Spartan"/>
              </a:rPr>
              <a:t>Equipe local</a:t>
            </a:r>
          </a:p>
          <a:p>
            <a:pPr algn="l">
              <a:lnSpc>
                <a:spcPts val="1702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1E1"/>
                </a:solidFill>
                <a:latin typeface="League Spartan"/>
              </a:rPr>
              <a:t>formada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0142" y="5199068"/>
            <a:ext cx="1870582" cy="116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C9C4B8"/>
                </a:solidFill>
                <a:latin typeface="Helvetica"/>
              </a:rPr>
              <a:t>profissionais do município formados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0142" y="5408135"/>
            <a:ext cx="1150810" cy="121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League Spartan"/>
              </a:rPr>
              <a:t>a partir do 2º ano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78111" y="4413782"/>
            <a:ext cx="492823" cy="114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29">
                <a:solidFill>
                  <a:srgbClr val="F7C31C"/>
                </a:solidFill>
                <a:latin typeface="League Spartan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78111" y="4517089"/>
            <a:ext cx="1580578" cy="4323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02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1E1"/>
                </a:solidFill>
                <a:latin typeface="League Spartan"/>
              </a:rPr>
              <a:t>Licenciamento</a:t>
            </a:r>
          </a:p>
          <a:p>
            <a:pPr algn="l">
              <a:lnSpc>
                <a:spcPts val="1702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1E1"/>
                </a:solidFill>
                <a:latin typeface="League Spartan"/>
              </a:rPr>
              <a:t>permanente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78111" y="5006663"/>
            <a:ext cx="1627758" cy="116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D3D2C6"/>
                </a:solidFill>
                <a:latin typeface="Helvetica"/>
              </a:rPr>
              <a:t>método licenciado à prefeitura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8111" y="5408135"/>
            <a:ext cx="1243329" cy="121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FFFFF"/>
                </a:solidFill>
                <a:latin typeface="League Spartan"/>
              </a:rPr>
              <a:t>do 3º ano em diante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8000" y="6661405"/>
            <a:ext cx="461581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958C7E"/>
                </a:solidFill>
                <a:latin typeface="League Spartan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000" y="6403778"/>
            <a:ext cx="9168284" cy="2273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88278"/>
                </a:solidFill>
                <a:latin typeface="Helvetica"/>
              </a:rPr>
              <a:t>Lei 14.133/2021, art. 74, I e art. 75, II · Limite de dispensa de 2026 atualizado pelo Decreto nº 12.807/2025 · Adesão a ata de registro de preços: Lei 14.133/2021, art. 86, limitada a 50% dos quantitativos registrados e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68072"/>
                </a:solidFill>
                <a:latin typeface="Helvetica"/>
              </a:rPr>
              <a:t>condicionada a ata formalizada mediante licitação · Consórcios públicos: Lei 11.107/2005.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60267" y="460153"/>
            <a:ext cx="1923732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CONCORRÊNCIA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326" y="1754297"/>
            <a:ext cx="4585041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F7C31C"/>
                </a:solidFill>
                <a:latin typeface="League Spartan"/>
              </a:rPr>
              <a:t>“Formar gestores e trabalhar a equipe”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55248" y="1836139"/>
            <a:ext cx="1174178" cy="1732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CCC5B5"/>
                </a:solidFill>
                <a:latin typeface="Helvetica"/>
              </a:rPr>
              <a:t>(OMS, 2022)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6" y="2060691"/>
            <a:ext cx="5602665" cy="4095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BD6C6"/>
                </a:solidFill>
                <a:latin typeface="Helvetica"/>
              </a:rPr>
              <a:t>ÚNICA</a:t>
            </a:r>
            <a:r>
              <a:rPr sz="1120" b="1" i="0">
                <a:solidFill>
                  <a:srgbClr val="F5F1E1"/>
                </a:solidFill>
                <a:latin typeface="Helvetica"/>
              </a:rPr>
              <a:t> recomendação forte da OMS</a:t>
            </a:r>
            <a:r>
              <a:rPr sz="1120" b="0" i="0">
                <a:solidFill>
                  <a:srgbClr val="DBD6C6"/>
                </a:solidFill>
                <a:latin typeface="Helvetica"/>
              </a:rPr>
              <a:t> comparando intervenções em</a:t>
            </a:r>
            <a:r>
              <a:rPr sz="1120" b="0" i="0">
                <a:solidFill>
                  <a:srgbClr val="F7C31C"/>
                </a:solidFill>
                <a:latin typeface="Helvetica"/>
              </a:rPr>
              <a:t> saúde</a:t>
            </a:r>
          </a:p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7C31C"/>
                </a:solidFill>
                <a:latin typeface="Helvetica"/>
              </a:rPr>
              <a:t>mental no trabalho</a:t>
            </a:r>
            <a:r>
              <a:rPr sz="1120" b="0" i="0">
                <a:solidFill>
                  <a:srgbClr val="DBD5C6"/>
                </a:solidFill>
                <a:latin typeface="Helvetica"/>
              </a:rPr>
              <a:t>.</a:t>
            </a:r>
            <a:r>
              <a:rPr sz="1120" b="1" i="0">
                <a:solidFill>
                  <a:srgbClr val="F5F1E1"/>
                </a:solidFill>
                <a:latin typeface="Helvetica"/>
              </a:rPr>
              <a:t> É o que a PAAPS faz.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271" y="1754297"/>
            <a:ext cx="4807583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F5F1E1"/>
                </a:solidFill>
                <a:latin typeface="League Spartan"/>
              </a:rPr>
              <a:t>Consulta individual remota por aplicativo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3271" y="2060691"/>
            <a:ext cx="327504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DD8C9"/>
                </a:solidFill>
                <a:latin typeface="Helvetica"/>
              </a:rPr>
              <a:t>“Certeza de evidência</a:t>
            </a:r>
            <a:r>
              <a:rPr sz="1120" b="1" i="0">
                <a:solidFill>
                  <a:srgbClr val="F5F1E1"/>
                </a:solidFill>
                <a:latin typeface="Helvetica"/>
              </a:rPr>
              <a:t> baixa a muito baixa</a:t>
            </a:r>
            <a:r>
              <a:rPr sz="1120" b="0" i="0">
                <a:solidFill>
                  <a:srgbClr val="DDD8C9"/>
                </a:solidFill>
                <a:latin typeface="Helvetica"/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8353" y="2114504"/>
            <a:ext cx="885507" cy="110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DC7B9"/>
                </a:solidFill>
                <a:latin typeface="Helvetica"/>
              </a:rPr>
              <a:t>(OMS, 2022)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3271" y="2060691"/>
            <a:ext cx="5828728" cy="614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DD7C8"/>
                </a:solidFill>
                <a:latin typeface="Helvetica"/>
              </a:rPr>
              <a:t>.</a:t>
            </a:r>
            <a:r>
              <a:rPr sz="1120" b="1" i="0">
                <a:solidFill>
                  <a:srgbClr val="F07A3E"/>
                </a:solidFill>
                <a:latin typeface="Helvetica"/>
              </a:rPr>
              <a:t> É o único produto que o</a:t>
            </a:r>
          </a:p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07A3E"/>
                </a:solidFill>
                <a:latin typeface="Helvetica"/>
              </a:rPr>
              <a:t>mercado vende hoje para a Rede Pública de Cuidado brasileira</a:t>
            </a:r>
            <a:r>
              <a:rPr sz="1120" b="0" i="0">
                <a:solidFill>
                  <a:srgbClr val="DDD8C9"/>
                </a:solidFill>
                <a:latin typeface="Helvetica"/>
              </a:rPr>
              <a:t>, e só</a:t>
            </a:r>
          </a:p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CD7C8"/>
                </a:solidFill>
                <a:latin typeface="Helvetica"/>
              </a:rPr>
              <a:t>alcança quem se reconhece mal, agenda sozinho e comparece à consulta.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352" y="3141863"/>
            <a:ext cx="2204720" cy="1498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7C31C"/>
                </a:solidFill>
                <a:latin typeface="Helvetica"/>
              </a:rPr>
              <a:t>Treinamentos locais para a rede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3322" y="3141863"/>
            <a:ext cx="2055622" cy="1498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7C31C"/>
                </a:solidFill>
                <a:latin typeface="Helvetica"/>
              </a:rPr>
              <a:t>Gestores dentro do processo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7859" y="3149051"/>
            <a:ext cx="2100135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EDE8D9"/>
                </a:solidFill>
                <a:latin typeface="Helvetica"/>
              </a:rPr>
              <a:t>Conteúdo gratuito para a gestão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639" y="3149051"/>
            <a:ext cx="2363279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ECE8D8"/>
                </a:solidFill>
                <a:latin typeface="Helvetica"/>
              </a:rPr>
              <a:t>Time de Customer Success dedicado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1937" y="3505159"/>
            <a:ext cx="5052305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ECE8D8"/>
                </a:solidFill>
                <a:latin typeface="Helvetica"/>
              </a:rPr>
              <a:t>Impacto direto na saúde mental de até 10 Servidores por hora da(o) psicóloga(o)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012" y="3505159"/>
            <a:ext cx="3900106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ECE8D8"/>
                </a:solidFill>
                <a:latin typeface="Helvetica"/>
              </a:rPr>
              <a:t>Não abre mão de qualidade e impacto, e mesmo assim, escala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508" y="3938050"/>
            <a:ext cx="10467046" cy="490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 spc="8">
                <a:solidFill>
                  <a:srgbClr val="FFFFFF"/>
                </a:solidFill>
                <a:latin typeface="League Spartan"/>
              </a:rPr>
              <a:t>O MAIOR COMPRADOR DO PAÍS JÁ BUSCOU CONTRATAÇÃO EM SAÚDE MENTAL NO SERVIÇO</a:t>
            </a:r>
          </a:p>
          <a:p>
            <a:pPr algn="ctr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 spc="8">
                <a:solidFill>
                  <a:srgbClr val="FFFFFF"/>
                </a:solidFill>
                <a:latin typeface="League Spartan"/>
              </a:rPr>
              <a:t>PÚBLICO, MAS SÓ ACHOU CONSULTA INDIVIDUAL.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114" y="4533524"/>
            <a:ext cx="11633706" cy="419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51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 spc="7">
                <a:solidFill>
                  <a:srgbClr val="F7C31C"/>
                </a:solidFill>
                <a:latin typeface="League Spartan"/>
              </a:rPr>
              <a:t>A MAIOR MALHA DE CUIDADO PÚBLICA JÁ CONSTRUÍDA MERECE RECEBER A PRÁTICA EM SAÚDE MENTAL NO TRABALHO</a:t>
            </a:r>
          </a:p>
          <a:p>
            <a:pPr algn="ctr">
              <a:lnSpc>
                <a:spcPts val="1651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 spc="7">
                <a:solidFill>
                  <a:srgbClr val="F7C31C"/>
                </a:solidFill>
                <a:latin typeface="League Spartan"/>
              </a:rPr>
              <a:t>COM MAIS EVIDÊNCIA, E RECOMENDADA PELA OMS.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6661405"/>
            <a:ext cx="443738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82796C"/>
                </a:solidFill>
                <a:latin typeface="League Spartan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6403778"/>
            <a:ext cx="9063757" cy="2273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A7E6F"/>
                </a:solidFill>
                <a:latin typeface="Helvetica"/>
              </a:rPr>
              <a:t>Pregão do Governo Federal para saúde mental no serviço público: Ata de Registro de Preços nº 41/2026, Pregão nº 90.001/2026, Central de Compras do Ministério da Gestão e da Inovação em Serviços Públicos ·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C8070"/>
                </a:solidFill>
                <a:latin typeface="Helvetica"/>
              </a:rPr>
              <a:t>Força da recomendação: Diretrizes da OMS sobre saúde mental no trabalho, 2022.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0492" y="6661405"/>
            <a:ext cx="1393507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0" i="0" spc="26">
                <a:solidFill>
                  <a:srgbClr val="837B6F"/>
                </a:solidFill>
                <a:latin typeface="League Spartan"/>
              </a:rPr>
              <a:t>PAAPS em campo, Minas Gerais.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63480" y="460153"/>
            <a:ext cx="1620520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TECNOLOGIA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9584" y="425744"/>
            <a:ext cx="959167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pc="48">
                <a:solidFill>
                  <a:srgbClr val="F7C31C"/>
                </a:solidFill>
                <a:latin typeface="League Spartan"/>
              </a:rPr>
              <a:t>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108" y="425744"/>
            <a:ext cx="5300922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pc="12">
                <a:solidFill>
                  <a:srgbClr val="F5F1E1"/>
                </a:solidFill>
                <a:latin typeface="League Spartan"/>
              </a:rPr>
              <a:t>PONTO DE APOIO DO SERVIDOR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536417"/>
            <a:ext cx="7231119" cy="49009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 spc="-17">
                <a:solidFill>
                  <a:srgbClr val="F5F1E1"/>
                </a:solidFill>
                <a:latin typeface="League Spartan"/>
              </a:rPr>
              <a:t>Na obtenção de dados da rede pública, o gargalo</a:t>
            </a:r>
            <a:r>
              <a:rPr sz="1660" b="1" i="0" spc="-17">
                <a:solidFill>
                  <a:srgbClr val="F7C31C"/>
                </a:solidFill>
                <a:latin typeface="League Spartan"/>
              </a:rPr>
              <a:t> sempre foi chegar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 spc="-17">
                <a:solidFill>
                  <a:srgbClr val="F7C31C"/>
                </a:solidFill>
                <a:latin typeface="League Spartan"/>
              </a:rPr>
              <a:t>na rede</a:t>
            </a:r>
            <a:r>
              <a:rPr sz="1660" b="1" i="0" spc="-17">
                <a:solidFill>
                  <a:srgbClr val="F5F1E1"/>
                </a:solidFill>
                <a:latin typeface="League Spartan"/>
              </a:rPr>
              <a:t>. A PAAPS vai estar dentro dela todo mês, humanamente.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286501"/>
            <a:ext cx="3123082" cy="3624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9E5D6"/>
                </a:solidFill>
                <a:latin typeface="Helvetica"/>
              </a:rPr>
              <a:t>Hoje ninguém sabe se um atendimento foi bom,</a:t>
            </a:r>
          </a:p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7C31C"/>
                </a:solidFill>
                <a:latin typeface="Helvetica"/>
              </a:rPr>
              <a:t>porque não existe forma padrão de coleta</a:t>
            </a:r>
            <a:r>
              <a:rPr sz="980" b="0" i="0">
                <a:solidFill>
                  <a:srgbClr val="EAE5D7"/>
                </a:solidFill>
                <a:latin typeface="Helvetica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712421"/>
            <a:ext cx="2481072" cy="16129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7C31C"/>
                </a:solidFill>
                <a:latin typeface="League Spartan"/>
              </a:rPr>
              <a:t>A rede pública trabalha sem espelho.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073" y="2286501"/>
            <a:ext cx="3263576" cy="1087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E8E5D6"/>
                </a:solidFill>
                <a:latin typeface="Helvetica"/>
              </a:rPr>
              <a:t>A equipe de psicologia da PAAPS transforma</a:t>
            </a:r>
          </a:p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E7E5D5"/>
                </a:solidFill>
                <a:latin typeface="Helvetica"/>
              </a:rPr>
              <a:t>cada Roda em registro:</a:t>
            </a:r>
            <a:r>
              <a:rPr sz="980" b="0" i="0">
                <a:solidFill>
                  <a:srgbClr val="E7E5D5"/>
                </a:solidFill>
                <a:latin typeface="Helvetica"/>
              </a:rPr>
              <a:t> principais demandas</a:t>
            </a:r>
          </a:p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7E5D5"/>
                </a:solidFill>
                <a:latin typeface="Helvetica"/>
              </a:rPr>
              <a:t>coletivas, questões em comum trabalhadas,</a:t>
            </a:r>
          </a:p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8E5D6"/>
                </a:solidFill>
                <a:latin typeface="Helvetica"/>
              </a:rPr>
              <a:t>número de participantes, faltas e afastamentos no</a:t>
            </a:r>
          </a:p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8E5D5"/>
                </a:solidFill>
                <a:latin typeface="Helvetica"/>
              </a:rPr>
              <a:t>período, a organização das equipes e onde há</a:t>
            </a:r>
          </a:p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7E5D5"/>
                </a:solidFill>
                <a:latin typeface="Helvetica"/>
              </a:rPr>
              <a:t>necessidade de mediação de conflitos.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3744779"/>
            <a:ext cx="3303214" cy="7250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5E2D3"/>
                </a:solidFill>
                <a:latin typeface="Helvetica"/>
              </a:rPr>
              <a:t>A gestão municipal</a:t>
            </a:r>
            <a:r>
              <a:rPr sz="980" b="1" i="0">
                <a:solidFill>
                  <a:srgbClr val="F7C31C"/>
                </a:solidFill>
                <a:latin typeface="Helvetica"/>
              </a:rPr>
              <a:t> nunca teve série histórica da</a:t>
            </a:r>
          </a:p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7C31C"/>
                </a:solidFill>
                <a:latin typeface="Helvetica"/>
              </a:rPr>
              <a:t>própria rede</a:t>
            </a:r>
            <a:r>
              <a:rPr sz="980" b="0" i="0">
                <a:solidFill>
                  <a:srgbClr val="E6E2D2"/>
                </a:solidFill>
                <a:latin typeface="Helvetica"/>
              </a:rPr>
              <a:t> no processo de tomada de decisão.</a:t>
            </a:r>
          </a:p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6E2D3"/>
                </a:solidFill>
                <a:latin typeface="Helvetica"/>
              </a:rPr>
              <a:t>Um ano de Rodas registradas torna isso</a:t>
            </a:r>
            <a:r>
              <a:rPr sz="980" b="1" i="0">
                <a:solidFill>
                  <a:srgbClr val="F7C31C"/>
                </a:solidFill>
                <a:latin typeface="Helvetica"/>
              </a:rPr>
              <a:t> factível</a:t>
            </a:r>
            <a:r>
              <a:rPr sz="980" b="0" i="0">
                <a:solidFill>
                  <a:srgbClr val="E6E2D3"/>
                </a:solidFill>
                <a:latin typeface="Helvetica"/>
              </a:rPr>
              <a:t>,</a:t>
            </a:r>
          </a:p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E6E2D3"/>
                </a:solidFill>
                <a:latin typeface="Helvetica"/>
              </a:rPr>
              <a:t>no Ponto de Apoio.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073" y="3743597"/>
            <a:ext cx="3203032" cy="11221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E7E4D5"/>
                </a:solidFill>
                <a:latin typeface="Helvetica"/>
              </a:rPr>
              <a:t>O adoecimento do servidor de prefeitura</a:t>
            </a:r>
            <a:r>
              <a:rPr sz="1019" b="1" i="0">
                <a:solidFill>
                  <a:srgbClr val="F7C31C"/>
                </a:solidFill>
                <a:latin typeface="Helvetica"/>
              </a:rPr>
              <a:t> não</a:t>
            </a:r>
          </a:p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7C31C"/>
                </a:solidFill>
                <a:latin typeface="Helvetica"/>
              </a:rPr>
              <a:t>tem estatística nacional própria</a:t>
            </a:r>
            <a:r>
              <a:rPr sz="1019" b="0" i="0">
                <a:solidFill>
                  <a:srgbClr val="E7E4D5"/>
                </a:solidFill>
                <a:latin typeface="Helvetica"/>
              </a:rPr>
              <a:t>. O que se</a:t>
            </a:r>
          </a:p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E7E4D5"/>
                </a:solidFill>
                <a:latin typeface="Helvetica"/>
              </a:rPr>
              <a:t>mede é o afastamento que já virou benefício;</a:t>
            </a:r>
          </a:p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7C31C"/>
                </a:solidFill>
                <a:latin typeface="Helvetica"/>
              </a:rPr>
              <a:t>falta curta, presenteísmo e solidão não</a:t>
            </a:r>
          </a:p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7C31C"/>
                </a:solidFill>
                <a:latin typeface="Helvetica"/>
              </a:rPr>
              <a:t>entram</a:t>
            </a:r>
            <a:r>
              <a:rPr sz="1019" b="0" i="0">
                <a:solidFill>
                  <a:srgbClr val="E6E4D4"/>
                </a:solidFill>
                <a:latin typeface="Helvetica"/>
              </a:rPr>
              <a:t>. É um ponto cego sobre quem sustenta</a:t>
            </a:r>
          </a:p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E6E4D4"/>
                </a:solidFill>
                <a:latin typeface="Helvetica"/>
              </a:rPr>
              <a:t>o cuidado no país.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8476" y="1442344"/>
            <a:ext cx="1030985" cy="116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7">
                <a:solidFill>
                  <a:srgbClr val="F5F1E1"/>
                </a:solidFill>
                <a:latin typeface="League Spartan"/>
              </a:rPr>
              <a:t>Rede municipal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37242" y="1460951"/>
            <a:ext cx="697610" cy="914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F7C31C"/>
                </a:solidFill>
                <a:latin typeface="Helvetica"/>
              </a:rPr>
              <a:t>12 meses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4018" y="1789192"/>
            <a:ext cx="451548" cy="701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0" b="1" i="0">
                <a:solidFill>
                  <a:srgbClr val="1E0E03"/>
                </a:solidFill>
                <a:latin typeface="League Spartan"/>
              </a:rP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2998" y="1786186"/>
            <a:ext cx="785304" cy="76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600"/>
              </a:lnSpc>
              <a:spcBef>
                <a:spcPts val="0"/>
              </a:spcBef>
              <a:spcAft>
                <a:spcPts val="0"/>
              </a:spcAft>
            </a:pPr>
            <a:r>
              <a:rPr sz="480" b="1" i="0">
                <a:solidFill>
                  <a:srgbClr val="1E0E03"/>
                </a:solidFill>
                <a:latin typeface="League Spartan"/>
              </a:rPr>
              <a:t>Área do gestor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7738" y="1789192"/>
            <a:ext cx="451548" cy="701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0" b="1" i="0">
                <a:solidFill>
                  <a:srgbClr val="9E9486"/>
                </a:solidFill>
                <a:latin typeface="League Spartan"/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6717" y="1786186"/>
            <a:ext cx="837819" cy="76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600"/>
              </a:lnSpc>
              <a:spcBef>
                <a:spcPts val="0"/>
              </a:spcBef>
              <a:spcAft>
                <a:spcPts val="0"/>
              </a:spcAft>
            </a:pPr>
            <a:r>
              <a:rPr sz="480" b="1" i="0">
                <a:solidFill>
                  <a:srgbClr val="9E9486"/>
                </a:solidFill>
                <a:latin typeface="League Spartan"/>
              </a:rPr>
              <a:t>Área do servidor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8476" y="2024152"/>
            <a:ext cx="1603692" cy="88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 spc="34">
                <a:solidFill>
                  <a:srgbClr val="A69E8F"/>
                </a:solidFill>
                <a:latin typeface="Helvetica"/>
              </a:rPr>
              <a:t>RODAS REGISTRADAS POR MÊS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9276" y="3062312"/>
            <a:ext cx="432816" cy="114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7C31C"/>
                </a:solidFill>
                <a:latin typeface="League Spartan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9276" y="3170144"/>
            <a:ext cx="990028" cy="71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spcAft>
                <a:spcPts val="0"/>
              </a:spcAft>
            </a:pPr>
            <a:r>
              <a:rPr sz="450" b="0" i="0">
                <a:solidFill>
                  <a:srgbClr val="B5AD9F"/>
                </a:solidFill>
                <a:latin typeface="Helvetica"/>
              </a:rPr>
              <a:t>casos intersetoriais/mês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508" y="3062312"/>
            <a:ext cx="596328" cy="114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7C31C"/>
                </a:solidFill>
                <a:latin typeface="League Spartan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508" y="3170144"/>
            <a:ext cx="918654" cy="1342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28"/>
              </a:lnSpc>
              <a:spcBef>
                <a:spcPts val="0"/>
              </a:spcBef>
              <a:spcAft>
                <a:spcPts val="0"/>
              </a:spcAft>
            </a:pPr>
            <a:r>
              <a:rPr sz="450" b="0" i="0">
                <a:solidFill>
                  <a:srgbClr val="B5AD9F"/>
                </a:solidFill>
                <a:latin typeface="Helvetica"/>
              </a:rPr>
              <a:t>acesso aos dados do</a:t>
            </a:r>
          </a:p>
          <a:p>
            <a:pPr algn="l">
              <a:lnSpc>
                <a:spcPts val="528"/>
              </a:lnSpc>
              <a:spcBef>
                <a:spcPts val="0"/>
              </a:spcBef>
              <a:spcAft>
                <a:spcPts val="0"/>
              </a:spcAft>
            </a:pPr>
            <a:r>
              <a:rPr sz="450" b="0" i="0">
                <a:solidFill>
                  <a:srgbClr val="B5ADA0"/>
                </a:solidFill>
                <a:latin typeface="Helvetica"/>
              </a:rPr>
              <a:t>encaminhamento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476" y="3511380"/>
            <a:ext cx="960945" cy="81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</a:pPr>
            <a:r>
              <a:rPr sz="509" b="1" i="0" spc="26">
                <a:solidFill>
                  <a:srgbClr val="8B8274"/>
                </a:solidFill>
                <a:latin typeface="League Spartan"/>
              </a:rPr>
              <a:t>ALERTAS DA REDE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476" y="3675304"/>
            <a:ext cx="1116139" cy="939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D7D2C3"/>
                </a:solidFill>
                <a:latin typeface="Helvetica"/>
              </a:rPr>
              <a:t>Faltas e afastamentos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8476" y="3884854"/>
            <a:ext cx="842772" cy="939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D7D2C3"/>
                </a:solidFill>
                <a:latin typeface="Helvetica"/>
              </a:rPr>
              <a:t>Presenteísmo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8476" y="4094404"/>
            <a:ext cx="1028128" cy="939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D7D2C3"/>
                </a:solidFill>
                <a:latin typeface="Helvetica"/>
              </a:rPr>
              <a:t>Solidão no trabalho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8476" y="4374789"/>
            <a:ext cx="793559" cy="81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</a:pPr>
            <a:r>
              <a:rPr sz="509" b="1" i="0" spc="26">
                <a:solidFill>
                  <a:srgbClr val="8A8174"/>
                </a:solidFill>
                <a:latin typeface="League Spartan"/>
              </a:rPr>
              <a:t>SATISFAÇÃO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8476" y="4538714"/>
            <a:ext cx="1180210" cy="939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D7D2C3"/>
                </a:solidFill>
                <a:latin typeface="Helvetica"/>
              </a:rPr>
              <a:t>NPS da Rede de Saúde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8476" y="4748264"/>
            <a:ext cx="1343215" cy="939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D7D2C3"/>
                </a:solidFill>
                <a:latin typeface="Helvetica"/>
              </a:rPr>
              <a:t>NPS da Rede de Assistência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7131" y="5312793"/>
            <a:ext cx="1283779" cy="167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5F1E1"/>
                </a:solidFill>
                <a:latin typeface="League Spartan"/>
              </a:rPr>
              <a:t>Ponto de Apoio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7131" y="5469988"/>
            <a:ext cx="945832" cy="137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EB9AC"/>
                </a:solidFill>
                <a:latin typeface="Helvetica"/>
              </a:rPr>
              <a:t>do Servidor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8000" y="6661405"/>
            <a:ext cx="459994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A49E94"/>
                </a:solidFill>
                <a:latin typeface="League Spartan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6290049"/>
            <a:ext cx="9177501" cy="34109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B978B"/>
                </a:solidFill>
                <a:latin typeface="Helvetica"/>
              </a:rPr>
              <a:t>O afastamento só vira registro do INSS a partir do 16º dia: os 15 primeiros são do empregador, Lei 8.213/1991, art. 60 · Concessões por CID: Anuário Estatístico da Previdência Social · Servidores federais: base de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C988C"/>
                </a:solidFill>
                <a:latin typeface="Helvetica"/>
              </a:rPr>
              <a:t>afastamentos e licenças do Executivo Federal · Servidor municipal: a literatura acadêmica registra a pesquisa nessa população como escassa · O tratamento de informações e dados se adequa à LGPD e às diretrizes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29B90"/>
                </a:solidFill>
                <a:latin typeface="Helvetica"/>
              </a:rPr>
              <a:t>éticas e de boas práticas do CFP.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51238" y="460153"/>
            <a:ext cx="2032825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6088"/>
            <a:ext cx="9552975" cy="425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350"/>
              </a:lnSpc>
              <a:spcBef>
                <a:spcPts val="0"/>
              </a:spcBef>
              <a:spcAft>
                <a:spcPts val="0"/>
              </a:spcAft>
            </a:pPr>
            <a:r>
              <a:rPr sz="2680" b="1" i="0" spc="-27">
                <a:solidFill>
                  <a:srgbClr val="F5F1E1"/>
                </a:solidFill>
                <a:latin typeface="League Spartan"/>
              </a:rPr>
              <a:t>eConsig e PAAPS ao lado do</a:t>
            </a:r>
            <a:r>
              <a:rPr sz="2680" b="1" i="0" spc="-27">
                <a:solidFill>
                  <a:srgbClr val="F7C31C"/>
                </a:solidFill>
                <a:latin typeface="League Spartan"/>
              </a:rPr>
              <a:t> Servidor Público Brasileiro</a:t>
            </a:r>
            <a:r>
              <a:rPr sz="2680" b="1" i="0" spc="-27">
                <a:solidFill>
                  <a:srgbClr val="F5F1E1"/>
                </a:solidFill>
                <a:latin typeface="League Spartan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2066605"/>
            <a:ext cx="1057084" cy="243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F7C31C"/>
                </a:solidFill>
                <a:latin typeface="League Spartan"/>
              </a:rPr>
              <a:t>eConsig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2382419"/>
            <a:ext cx="3928205" cy="8742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7E2D2"/>
                </a:solidFill>
                <a:latin typeface="Helvetica"/>
              </a:rPr>
              <a:t>Nasceu na Zetra, em Belo Horizonte, e hoje é a</a:t>
            </a:r>
          </a:p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2D2"/>
                </a:solidFill>
                <a:latin typeface="Helvetica"/>
              </a:rPr>
              <a:t>plataforma de consignado público da Serasa</a:t>
            </a:r>
          </a:p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2D2"/>
                </a:solidFill>
                <a:latin typeface="Helvetica"/>
              </a:rPr>
              <a:t>Experian: mais de</a:t>
            </a:r>
            <a:r>
              <a:rPr sz="1250" b="1" i="0">
                <a:solidFill>
                  <a:srgbClr val="F7C31C"/>
                </a:solidFill>
                <a:latin typeface="Helvetica"/>
              </a:rPr>
              <a:t> 600 órgãos</a:t>
            </a:r>
            <a:r>
              <a:rPr sz="1250" b="0" i="0">
                <a:solidFill>
                  <a:srgbClr val="E8E2D2"/>
                </a:solidFill>
                <a:latin typeface="Helvetica"/>
              </a:rPr>
              <a:t> das três</a:t>
            </a:r>
          </a:p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3D2"/>
                </a:solidFill>
                <a:latin typeface="Helvetica"/>
              </a:rPr>
              <a:t>esferas.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8045" y="2066605"/>
            <a:ext cx="2155126" cy="243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F7C31C"/>
                </a:solidFill>
                <a:latin typeface="League Spartan"/>
              </a:rPr>
              <a:t>Superendividamento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8045" y="2382419"/>
            <a:ext cx="3861817" cy="4371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6E1D1"/>
                </a:solidFill>
                <a:latin typeface="Helvetica"/>
              </a:rPr>
              <a:t>Por meio do eConsig, a Serasa já leva</a:t>
            </a:r>
          </a:p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6E1D1"/>
                </a:solidFill>
                <a:latin typeface="Helvetica"/>
              </a:rPr>
              <a:t>educação financeira</a:t>
            </a:r>
            <a:r>
              <a:rPr sz="1250" b="0" i="0">
                <a:solidFill>
                  <a:srgbClr val="E6E1D1"/>
                </a:solidFill>
                <a:latin typeface="Helvetica"/>
              </a:rPr>
              <a:t> aos servidores públicos.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1241" y="2066605"/>
            <a:ext cx="1665160" cy="243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F7C31C"/>
                </a:solidFill>
                <a:latin typeface="League Spartan"/>
              </a:rPr>
              <a:t>Ponto de Apoio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1241" y="2382419"/>
            <a:ext cx="3840012" cy="8742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6E1D2"/>
                </a:solidFill>
                <a:latin typeface="Helvetica"/>
              </a:rPr>
              <a:t>O adoecimento psíquico do servidor municipal</a:t>
            </a:r>
          </a:p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7C31C"/>
                </a:solidFill>
                <a:latin typeface="Helvetica"/>
              </a:rPr>
              <a:t>não tem estatística própria no Brasil</a:t>
            </a:r>
            <a:r>
              <a:rPr sz="1250" b="0" i="0">
                <a:solidFill>
                  <a:srgbClr val="E7E2D2"/>
                </a:solidFill>
                <a:latin typeface="Helvetica"/>
              </a:rPr>
              <a:t>. O</a:t>
            </a:r>
          </a:p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7E2D2"/>
                </a:solidFill>
                <a:latin typeface="Helvetica"/>
              </a:rPr>
              <a:t>Ponto de Apoio</a:t>
            </a:r>
            <a:r>
              <a:rPr sz="1250" b="1" i="0">
                <a:solidFill>
                  <a:srgbClr val="E7E2D2"/>
                </a:solidFill>
                <a:latin typeface="Helvetica"/>
              </a:rPr>
              <a:t> é esse dado</a:t>
            </a:r>
            <a:r>
              <a:rPr sz="1250" b="0" i="0">
                <a:solidFill>
                  <a:srgbClr val="E7E2D2"/>
                </a:solidFill>
                <a:latin typeface="Helvetica"/>
              </a:rPr>
              <a:t>, ao lado do</a:t>
            </a:r>
          </a:p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7E2D2"/>
                </a:solidFill>
                <a:latin typeface="Helvetica"/>
              </a:rPr>
              <a:t>servidor público e da gestão.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625789"/>
            <a:ext cx="1372997" cy="167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 spc="32">
                <a:solidFill>
                  <a:srgbClr val="F7C31C"/>
                </a:solidFill>
                <a:latin typeface="League Spartan"/>
              </a:rPr>
              <a:t>MENSURÁVEIS: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450" y="4242150"/>
            <a:ext cx="1699006" cy="2895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7C31C"/>
                </a:solidFill>
                <a:latin typeface="League Spartan"/>
              </a:rPr>
              <a:t>Absenteísmo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450" y="4571937"/>
            <a:ext cx="1843468" cy="19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E5E0D1"/>
                </a:solidFill>
                <a:latin typeface="Helvetica"/>
              </a:rPr>
              <a:t>faltas e afastamentos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1326" y="4242150"/>
            <a:ext cx="1740789" cy="2895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7C31C"/>
                </a:solidFill>
                <a:latin typeface="League Spartan"/>
              </a:rPr>
              <a:t>Presenteísmo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1326" y="4571937"/>
            <a:ext cx="1658619" cy="19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E5E0D1"/>
                </a:solidFill>
                <a:latin typeface="Helvetica"/>
              </a:rPr>
              <a:t>trabalhar adoecido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330" y="4242150"/>
            <a:ext cx="1145984" cy="2895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7C31C"/>
                </a:solidFill>
                <a:latin typeface="League Spartan"/>
              </a:rPr>
              <a:t>Solidão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330" y="4571937"/>
            <a:ext cx="1152334" cy="19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E3DDCE"/>
                </a:solidFill>
                <a:latin typeface="Helvetica"/>
              </a:rPr>
              <a:t>no trabalho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5206" y="4242150"/>
            <a:ext cx="1456308" cy="2895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7C31C"/>
                </a:solidFill>
                <a:latin typeface="League Spartan"/>
              </a:rPr>
              <a:t>Qualidade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5206" y="4571937"/>
            <a:ext cx="2324100" cy="19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E4DECE"/>
                </a:solidFill>
                <a:latin typeface="Helvetica"/>
              </a:rPr>
              <a:t>do atendimento à população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6661405"/>
            <a:ext cx="457898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937C69"/>
                </a:solidFill>
                <a:latin typeface="League Spartan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6403778"/>
            <a:ext cx="8854178" cy="2273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E7D6B"/>
                </a:solidFill>
                <a:latin typeface="Helvetica"/>
              </a:rPr>
              <a:t>eConsig, gestão de consignado para órgãos públicos das três esferas: página de produto da Serasa Experian · Plataforma construída pela Zetra, de Belo Horizonte, e adquirida pela Serasa Experian em 2024 ·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C7A6A"/>
                </a:solidFill>
                <a:latin typeface="Helvetica"/>
              </a:rPr>
              <a:t>Educação financeira ao servidor: material institucional da Serasa · Servidor municipal sem estatística própria: ver slide 12.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9617" y="6554153"/>
            <a:ext cx="1794382" cy="2145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530" b="0" i="0" spc="26">
                <a:solidFill>
                  <a:srgbClr val="9F836A"/>
                </a:solidFill>
                <a:latin typeface="League Spartan"/>
              </a:rPr>
              <a:t>Roda de escuta conduzida pela PAAPS, Minas</a:t>
            </a:r>
          </a:p>
          <a:p>
            <a:pPr algn="r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530" b="0" i="0" spc="26">
                <a:solidFill>
                  <a:srgbClr val="9E8269"/>
                </a:solidFill>
                <a:latin typeface="League Spartan"/>
              </a:rPr>
              <a:t>Gerais.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59898" y="460153"/>
            <a:ext cx="1324102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466503"/>
            <a:ext cx="5476333" cy="4747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5F1E1"/>
                </a:solidFill>
                <a:latin typeface="League Spartan"/>
              </a:rPr>
              <a:t>DE UMA REDE POR VEZ A UMA</a:t>
            </a:r>
            <a:r>
              <a:rPr sz="1639" b="1" i="0" spc="-16">
                <a:solidFill>
                  <a:srgbClr val="F7C31C"/>
                </a:solidFill>
                <a:latin typeface="League Spartan"/>
              </a:rPr>
              <a:t> MALHA NACIONAL</a:t>
            </a:r>
            <a:r>
              <a:rPr sz="1639" b="1" i="0" spc="-16">
                <a:solidFill>
                  <a:srgbClr val="F5F1E1"/>
                </a:solidFill>
                <a:latin typeface="League Spartan"/>
              </a:rPr>
              <a:t>,</a:t>
            </a:r>
          </a:p>
          <a:p>
            <a:pPr algn="l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5F1E1"/>
                </a:solidFill>
                <a:latin typeface="League Spartan"/>
              </a:rPr>
              <a:t>COM PRATICAMENTE A MESMA ESTRUTURA FIXA.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540" y="2244334"/>
            <a:ext cx="1040003" cy="5560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95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7C31C"/>
                </a:solidFill>
                <a:latin typeface="League Spartan"/>
              </a:rPr>
              <a:t>Ponto de</a:t>
            </a:r>
          </a:p>
          <a:p>
            <a:pPr algn="ctr">
              <a:lnSpc>
                <a:spcPts val="1095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7C31C"/>
                </a:solidFill>
                <a:latin typeface="League Spartan"/>
              </a:rPr>
              <a:t>equilíbrio no</a:t>
            </a:r>
          </a:p>
          <a:p>
            <a:pPr algn="ctr">
              <a:lnSpc>
                <a:spcPts val="1095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7C31C"/>
                </a:solidFill>
                <a:latin typeface="League Spartan"/>
              </a:rPr>
              <a:t>primeiro</a:t>
            </a:r>
          </a:p>
          <a:p>
            <a:pPr algn="ctr">
              <a:lnSpc>
                <a:spcPts val="1095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7C31C"/>
                </a:solidFill>
                <a:latin typeface="League Spartan"/>
              </a:rPr>
              <a:t>contrato: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667" y="2806247"/>
            <a:ext cx="1031748" cy="38995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9DA"/>
                </a:solidFill>
                <a:latin typeface="Helvetica"/>
              </a:rPr>
              <a:t>uma prefeitura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9DA"/>
                </a:solidFill>
                <a:latin typeface="Helvetica"/>
              </a:rPr>
              <a:t>cobre 3,9× a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9DA"/>
                </a:solidFill>
                <a:latin typeface="Helvetica"/>
              </a:rPr>
              <a:t>estrutura fixa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8162" y="3444230"/>
            <a:ext cx="1020635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B4710"/>
                </a:solidFill>
                <a:latin typeface="League Spartan"/>
              </a:rPr>
              <a:t>Equipe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291" y="3589202"/>
            <a:ext cx="1242250" cy="51985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BE8D9"/>
                </a:solidFill>
                <a:latin typeface="Helvetica"/>
              </a:rPr>
              <a:t>psicólogas da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BE7D8"/>
                </a:solidFill>
                <a:latin typeface="Helvetica"/>
              </a:rPr>
              <a:t>cidade formadas, e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BE7D8"/>
                </a:solidFill>
                <a:latin typeface="Helvetica"/>
              </a:rPr>
              <a:t>a metodologia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BE7D7"/>
                </a:solidFill>
                <a:latin typeface="Helvetica"/>
              </a:rPr>
              <a:t>gravada com elas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6678" y="2482332"/>
            <a:ext cx="1165415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7C31C"/>
                </a:solidFill>
                <a:latin typeface="League Spartan"/>
              </a:rPr>
              <a:t>Método escrito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8611" y="2627241"/>
            <a:ext cx="1221613" cy="5199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EE8D9"/>
                </a:solidFill>
                <a:latin typeface="Helvetica"/>
              </a:rPr>
              <a:t>o MVP da primeira</a:t>
            </a:r>
          </a:p>
          <a:p>
            <a:pPr algn="ctr"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EE8D9"/>
                </a:solidFill>
                <a:latin typeface="Helvetica"/>
              </a:rPr>
              <a:t>prefeitura vira</a:t>
            </a:r>
          </a:p>
          <a:p>
            <a:pPr algn="ctr"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EE8D9"/>
                </a:solidFill>
                <a:latin typeface="Helvetica"/>
              </a:rPr>
              <a:t>protocolo para</a:t>
            </a:r>
          </a:p>
          <a:p>
            <a:pPr algn="ctr"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EE8D9"/>
                </a:solidFill>
                <a:latin typeface="Helvetica"/>
              </a:rPr>
              <a:t>licenciar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8568" y="3493252"/>
            <a:ext cx="1183703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7C31C"/>
                </a:solidFill>
                <a:latin typeface="League Spartan"/>
              </a:rPr>
              <a:t>Ponto de Apoio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2876" y="3638161"/>
            <a:ext cx="1335087" cy="38995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EE8D8"/>
                </a:solidFill>
                <a:latin typeface="Helvetica"/>
              </a:rPr>
              <a:t>plataforma integrada,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EE8D8"/>
                </a:solidFill>
                <a:latin typeface="Helvetica"/>
              </a:rPr>
              <a:t>dados em tempo real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7D7"/>
                </a:solidFill>
                <a:latin typeface="Helvetica"/>
              </a:rPr>
              <a:t>das redes clientes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3713" y="2661339"/>
            <a:ext cx="915479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7C31C"/>
                </a:solidFill>
                <a:latin typeface="League Spartan"/>
              </a:rPr>
              <a:t>Licença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8362" y="2806247"/>
            <a:ext cx="1206182" cy="38995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E9DA"/>
                </a:solidFill>
                <a:latin typeface="Helvetica"/>
              </a:rPr>
              <a:t>primeira rede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9DA"/>
                </a:solidFill>
                <a:latin typeface="Helvetica"/>
              </a:rPr>
              <a:t>executando com a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9DA"/>
                </a:solidFill>
                <a:latin typeface="Helvetica"/>
              </a:rPr>
              <a:t>própria equipe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3002" y="3444230"/>
            <a:ext cx="898651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B4710"/>
                </a:solidFill>
                <a:latin typeface="League Spartan"/>
              </a:rPr>
              <a:t>Consórcio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2311" y="3589202"/>
            <a:ext cx="1280032" cy="2598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9DA"/>
                </a:solidFill>
                <a:latin typeface="Helvetica"/>
              </a:rPr>
              <a:t>um contrato,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8D9"/>
                </a:solidFill>
                <a:latin typeface="Helvetica"/>
              </a:rPr>
              <a:t>dezenas de cidades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4749" y="2921308"/>
            <a:ext cx="115716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7C31C"/>
                </a:solidFill>
                <a:latin typeface="League Spartan"/>
              </a:rPr>
              <a:t>100 municípios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5455" y="3066216"/>
            <a:ext cx="1035621" cy="12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9DA"/>
                </a:solidFill>
                <a:latin typeface="Helvetica"/>
              </a:rPr>
              <a:t>1,8% do Brasil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405" y="3444230"/>
            <a:ext cx="1109789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B4710"/>
                </a:solidFill>
                <a:latin typeface="League Spartan"/>
              </a:rPr>
              <a:t>Fora do Brasil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1935" y="3589202"/>
            <a:ext cx="1264729" cy="3898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8D9"/>
                </a:solidFill>
                <a:latin typeface="Helvetica"/>
              </a:rPr>
              <a:t>o método atravessa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8D9"/>
                </a:solidFill>
                <a:latin typeface="Helvetica"/>
              </a:rPr>
              <a:t>para outro sistema</a:t>
            </a:r>
          </a:p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CE8D9"/>
                </a:solidFill>
                <a:latin typeface="Helvetica"/>
              </a:rPr>
              <a:t>público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0737" y="4400599"/>
            <a:ext cx="2756524" cy="119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3">
                <a:solidFill>
                  <a:srgbClr val="E8622A"/>
                </a:solidFill>
                <a:latin typeface="League Spartan"/>
              </a:rPr>
              <a:t>AS DUAS FRENTES PRINCIPAIS PARA SMART MONEY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414" y="6048170"/>
            <a:ext cx="1731644" cy="119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30">
                <a:solidFill>
                  <a:srgbClr val="442309"/>
                </a:solidFill>
                <a:latin typeface="League Spartan"/>
              </a:rPr>
              <a:t>OS 7 MESES DE ACELERAÇÃO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8037" y="6048170"/>
            <a:ext cx="949325" cy="119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30">
                <a:solidFill>
                  <a:srgbClr val="FFFFFF"/>
                </a:solidFill>
                <a:latin typeface="League Spartan"/>
              </a:rPr>
              <a:t>2027 A 2031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6661405"/>
            <a:ext cx="457073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A08F77"/>
                </a:solidFill>
                <a:latin typeface="League Spart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22611" y="460153"/>
            <a:ext cx="1461389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PROJEÇÕES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767" y="1794496"/>
            <a:ext cx="944118" cy="2138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7C31C"/>
                </a:solidFill>
                <a:latin typeface="League Spartan"/>
              </a:rPr>
              <a:t>Receita bruta</a:t>
            </a:r>
          </a:p>
          <a:p>
            <a:pPr algn="r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7C31C"/>
                </a:solidFill>
                <a:latin typeface="League Spartan"/>
              </a:rPr>
              <a:t>projetada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837" y="3333088"/>
            <a:ext cx="759396" cy="1295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5F1E1"/>
                </a:solidFill>
                <a:latin typeface="League Spartan"/>
              </a:rPr>
              <a:t>Margem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880" y="3513872"/>
            <a:ext cx="673417" cy="1295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5F1E1"/>
                </a:solidFill>
                <a:latin typeface="League Spartan"/>
              </a:rPr>
              <a:t>Tempo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275" y="3678631"/>
            <a:ext cx="692848" cy="99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5F1E1"/>
                </a:solidFill>
                <a:latin typeface="Helvetica"/>
              </a:rPr>
              <a:t>Projeção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2755" y="1811561"/>
            <a:ext cx="1069086" cy="1803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7C31C"/>
                </a:solidFill>
                <a:latin typeface="League Spartan"/>
              </a:rPr>
              <a:t>R$ 0,92 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8744" y="3266283"/>
            <a:ext cx="737107" cy="234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5F1E1"/>
                </a:solidFill>
                <a:latin typeface="League Spartan"/>
              </a:rPr>
              <a:t>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0400" y="3503302"/>
            <a:ext cx="653669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5F1E1"/>
                </a:solidFill>
                <a:latin typeface="League Spartan"/>
              </a:rPr>
              <a:t>Ano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1908" y="3665656"/>
            <a:ext cx="890714" cy="12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FB9A6"/>
                </a:solidFill>
                <a:latin typeface="Helvetica"/>
              </a:rPr>
              <a:t>1 prefeitura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6860" y="1811561"/>
            <a:ext cx="1061910" cy="1803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7C31C"/>
                </a:solidFill>
                <a:latin typeface="League Spartan"/>
              </a:rPr>
              <a:t>R$ 2,87 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9928" y="3266283"/>
            <a:ext cx="735838" cy="234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5F1E1"/>
                </a:solidFill>
                <a:latin typeface="League Spartan"/>
              </a:rPr>
              <a:t>46%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6916" y="3503302"/>
            <a:ext cx="681926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5F1E1"/>
                </a:solidFill>
                <a:latin typeface="League Spartan"/>
              </a:rPr>
              <a:t>Ano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0391" y="3665656"/>
            <a:ext cx="954913" cy="12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9C1AA"/>
                </a:solidFill>
                <a:latin typeface="Helvetica"/>
              </a:rPr>
              <a:t>3 + 1 licença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0521" y="1811561"/>
            <a:ext cx="1055878" cy="1803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7C31C"/>
                </a:solidFill>
                <a:latin typeface="League Spartan"/>
              </a:rPr>
              <a:t>R$ 5,48 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9906" y="3266283"/>
            <a:ext cx="737107" cy="234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5F1E1"/>
                </a:solidFill>
                <a:latin typeface="League Spartan"/>
              </a:rPr>
              <a:t>42%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9370" y="3503302"/>
            <a:ext cx="678243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5F1E1"/>
                </a:solidFill>
                <a:latin typeface="League Spartan"/>
              </a:rPr>
              <a:t>Ano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5667" y="3665656"/>
            <a:ext cx="1005712" cy="12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8BDAA"/>
                </a:solidFill>
                <a:latin typeface="Helvetica"/>
              </a:rPr>
              <a:t>5 + 8 licenças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6882" y="1811561"/>
            <a:ext cx="1024318" cy="1803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7C31C"/>
                </a:solidFill>
                <a:latin typeface="League Spartan"/>
              </a:rPr>
              <a:t>R$ 8,14 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3316" y="3266283"/>
            <a:ext cx="691642" cy="234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5F1E1"/>
                </a:solidFill>
                <a:latin typeface="League Spartan"/>
              </a:rPr>
              <a:t>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0618" y="3503302"/>
            <a:ext cx="676846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5F1E1"/>
                </a:solidFill>
                <a:latin typeface="League Spartan"/>
              </a:rPr>
              <a:t>Ano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8023" y="3665656"/>
            <a:ext cx="1062164" cy="12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CC0AD"/>
                </a:solidFill>
                <a:latin typeface="Helvetica"/>
              </a:rPr>
              <a:t>6 + 25 licenças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7109" y="1811561"/>
            <a:ext cx="1105217" cy="1803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7C31C"/>
                </a:solidFill>
                <a:latin typeface="League Spartan"/>
              </a:rPr>
              <a:t>R$ 13,52 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1132" y="3266283"/>
            <a:ext cx="737107" cy="234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5F1E1"/>
                </a:solidFill>
                <a:latin typeface="League Spartan"/>
              </a:rPr>
              <a:t>42%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0406" y="3503302"/>
            <a:ext cx="678560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5F1E1"/>
                </a:solidFill>
                <a:latin typeface="League Spartan"/>
              </a:rPr>
              <a:t>Ano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8636" y="3665656"/>
            <a:ext cx="1062164" cy="12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0C5B3"/>
                </a:solidFill>
                <a:latin typeface="Helvetica"/>
              </a:rPr>
              <a:t>8 + 60 licenças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350" y="3940921"/>
            <a:ext cx="773811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C31C"/>
                </a:solidFill>
                <a:latin typeface="League Spartan"/>
              </a:rPr>
              <a:t>38%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350" y="4231588"/>
            <a:ext cx="3677564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8E4D2"/>
                </a:solidFill>
                <a:latin typeface="Helvetica"/>
              </a:rPr>
              <a:t>da receita do ano 5 é</a:t>
            </a:r>
            <a:r>
              <a:rPr sz="780" b="1" i="0">
                <a:solidFill>
                  <a:srgbClr val="E8E4D2"/>
                </a:solidFill>
                <a:latin typeface="Helvetica"/>
              </a:rPr>
              <a:t> recorrente</a:t>
            </a:r>
            <a:r>
              <a:rPr sz="780" b="0" i="0">
                <a:solidFill>
                  <a:srgbClr val="E8E4D2"/>
                </a:solidFill>
                <a:latin typeface="Helvetica"/>
              </a:rPr>
              <a:t>: já contratada antes do ano começar.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4545" y="3940921"/>
            <a:ext cx="13451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C31C"/>
                </a:solidFill>
                <a:latin typeface="League Spartan"/>
              </a:rPr>
              <a:t>R$ 483 mil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4545" y="4231588"/>
            <a:ext cx="3265898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AE5D3"/>
                </a:solidFill>
                <a:latin typeface="Helvetica"/>
              </a:rPr>
              <a:t>de receita</a:t>
            </a:r>
            <a:r>
              <a:rPr sz="780" b="1" i="0">
                <a:solidFill>
                  <a:srgbClr val="EAE5D3"/>
                </a:solidFill>
                <a:latin typeface="Helvetica"/>
              </a:rPr>
              <a:t> por pessoa da equipe</a:t>
            </a:r>
            <a:r>
              <a:rPr sz="780" b="0" i="0">
                <a:solidFill>
                  <a:srgbClr val="EAE5D3"/>
                </a:solidFill>
                <a:latin typeface="Helvetica"/>
              </a:rPr>
              <a:t>, contra R$ 231 mil no ano 1.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7741" y="3940921"/>
            <a:ext cx="1380807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C31C"/>
                </a:solidFill>
                <a:latin typeface="League Spartan"/>
              </a:rPr>
              <a:t>28 pessoas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7741" y="4231588"/>
            <a:ext cx="2784323" cy="1244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BE6D4"/>
                </a:solidFill>
                <a:latin typeface="Helvetica"/>
              </a:rPr>
              <a:t>é a equipe inteira no ano 5, atendendo 68 prefeituras.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000" y="4574192"/>
            <a:ext cx="11684000" cy="1803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E5E0CE"/>
                </a:solidFill>
                <a:latin typeface="Helvetica"/>
              </a:rPr>
              <a:t>O que mais move esse resultado é</a:t>
            </a:r>
            <a:r>
              <a:rPr sz="1140" b="1" i="0">
                <a:solidFill>
                  <a:srgbClr val="F5F1E1"/>
                </a:solidFill>
                <a:latin typeface="Helvetica"/>
              </a:rPr>
              <a:t> quantas prefeituras entram por ano</a:t>
            </a:r>
            <a:r>
              <a:rPr sz="1140" b="0" i="0">
                <a:solidFill>
                  <a:srgbClr val="E5E0CE"/>
                </a:solidFill>
                <a:latin typeface="Helvetica"/>
              </a:rPr>
              <a:t>. Cada prefeitura que entra vira</a:t>
            </a:r>
            <a:r>
              <a:rPr sz="1140" b="1" i="0">
                <a:solidFill>
                  <a:srgbClr val="F5F1E1"/>
                </a:solidFill>
                <a:latin typeface="Helvetica"/>
              </a:rPr>
              <a:t> dado de uma rede que ninguém ainda conseguiu medir</a:t>
            </a:r>
            <a:r>
              <a:rPr sz="1140" b="0" i="0">
                <a:solidFill>
                  <a:srgbClr val="E5E0CE"/>
                </a:solidFill>
                <a:latin typeface="Helvetica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000" y="6661405"/>
            <a:ext cx="458025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7E7A6C"/>
                </a:solidFill>
                <a:latin typeface="League Spartan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000" y="6314878"/>
            <a:ext cx="9232050" cy="2273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08772"/>
                </a:solidFill>
                <a:latin typeface="Helvetica"/>
              </a:rPr>
              <a:t>Projeção com as premissas abertas: R$ 1.100 por Roda de Equipe, prefeitura atendida diretamente a ~R$ 924 mil ao ano, licença anual do método a R$ 64,8 mil e margem de contribuição de</a:t>
            </a:r>
            <a:r>
              <a:rPr sz="640" b="1" i="0">
                <a:solidFill>
                  <a:srgbClr val="908772"/>
                </a:solidFill>
                <a:latin typeface="Helvetica"/>
              </a:rPr>
              <a:t> 60,1% por município</a:t>
            </a:r>
            <a:r>
              <a:rPr sz="640" b="0" i="0">
                <a:solidFill>
                  <a:srgbClr val="908772"/>
                </a:solidFill>
                <a:latin typeface="Helvetica"/>
              </a:rPr>
              <a:t>. As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A8371"/>
                </a:solidFill>
                <a:latin typeface="Helvetica"/>
              </a:rPr>
              <a:t>demais premissas do modelo estão no anexo, no fim do deck.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3296" y="6661405"/>
            <a:ext cx="1310703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0" i="0" spc="26">
                <a:solidFill>
                  <a:srgbClr val="A7957C"/>
                </a:solidFill>
                <a:latin typeface="League Spartan"/>
              </a:rPr>
              <a:t>PAAPS Desterro do Melo 2024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27976" y="460153"/>
            <a:ext cx="2556087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MÉTRICAS PROJETADAS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8234" y="2253812"/>
            <a:ext cx="573405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9">
                <a:solidFill>
                  <a:srgbClr val="F7C31C"/>
                </a:solidFill>
                <a:latin typeface="League Spartan"/>
              </a:rPr>
              <a:t>LTV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843" y="2335186"/>
            <a:ext cx="1996186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F5F1E1"/>
                </a:solidFill>
                <a:latin typeface="League Spartan"/>
              </a:rPr>
              <a:t>~R$ 711 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420" y="2753225"/>
            <a:ext cx="1907158" cy="2844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2DECE"/>
                </a:solidFill>
                <a:latin typeface="Helvetica"/>
              </a:rPr>
              <a:t>de</a:t>
            </a:r>
            <a:r>
              <a:rPr sz="800" b="1" i="0">
                <a:solidFill>
                  <a:srgbClr val="F7C31C"/>
                </a:solidFill>
                <a:latin typeface="Helvetica"/>
              </a:rPr>
              <a:t> margem acumulada</a:t>
            </a:r>
            <a:r>
              <a:rPr sz="800" b="0" i="0">
                <a:solidFill>
                  <a:srgbClr val="E2DECE"/>
                </a:solidFill>
                <a:latin typeface="Helvetica"/>
              </a:rPr>
              <a:t> por</a:t>
            </a:r>
          </a:p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1DDCE"/>
                </a:solidFill>
                <a:latin typeface="Helvetica"/>
              </a:rPr>
              <a:t>prefeitura, ao longo de cinco 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8755" y="3345504"/>
            <a:ext cx="872426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9">
                <a:solidFill>
                  <a:srgbClr val="F7C31C"/>
                </a:solidFill>
                <a:latin typeface="League Spartan"/>
              </a:rPr>
              <a:t>MARGEM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633" y="3426878"/>
            <a:ext cx="1046733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F5F1E1"/>
                </a:solidFill>
                <a:latin typeface="League Spartan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9391" y="3844980"/>
            <a:ext cx="1871154" cy="284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19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FDACB"/>
                </a:solidFill>
                <a:latin typeface="Helvetica"/>
              </a:rPr>
              <a:t>de</a:t>
            </a:r>
            <a:r>
              <a:rPr sz="800" b="1" i="0">
                <a:solidFill>
                  <a:srgbClr val="F7C31C"/>
                </a:solidFill>
                <a:latin typeface="Helvetica"/>
              </a:rPr>
              <a:t> margem de contribuição</a:t>
            </a:r>
            <a:r>
              <a:rPr sz="800" b="0" i="0">
                <a:solidFill>
                  <a:srgbClr val="DFDACB"/>
                </a:solidFill>
                <a:latin typeface="Helvetica"/>
              </a:rPr>
              <a:t> em</a:t>
            </a:r>
          </a:p>
          <a:p>
            <a:pPr algn="ctr">
              <a:lnSpc>
                <a:spcPts val="1119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FDACB"/>
                </a:solidFill>
                <a:latin typeface="Helvetica"/>
              </a:rPr>
              <a:t>cada Roda de Equipe PAAPS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0870" y="2253812"/>
            <a:ext cx="1572196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9">
                <a:solidFill>
                  <a:srgbClr val="F7C31C"/>
                </a:solidFill>
                <a:latin typeface="League Spartan"/>
              </a:rPr>
              <a:t>PONTO DE EQUILÍBRIO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8045" y="2335186"/>
            <a:ext cx="1057782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F5F1E1"/>
                </a:solidFill>
                <a:latin typeface="League Spartan"/>
              </a:rPr>
              <a:t>0,26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2310" y="2753225"/>
            <a:ext cx="1889252" cy="2844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2DDCE"/>
                </a:solidFill>
                <a:latin typeface="Helvetica"/>
              </a:rPr>
              <a:t>de uma única prefeitura já paga a</a:t>
            </a:r>
          </a:p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3DFD0"/>
                </a:solidFill>
                <a:latin typeface="Helvetica"/>
              </a:rPr>
              <a:t>estrutura inteira da empresa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073" y="3345504"/>
            <a:ext cx="1117727" cy="146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9">
                <a:solidFill>
                  <a:srgbClr val="F7C31C"/>
                </a:solidFill>
                <a:latin typeface="League Spartan"/>
              </a:rPr>
              <a:t>PROSPECÇÃO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813" y="3426878"/>
            <a:ext cx="1976310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F5F1E1"/>
                </a:solidFill>
                <a:latin typeface="League Spartan"/>
              </a:rPr>
              <a:t>a construir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8881" y="3844980"/>
            <a:ext cx="1896300" cy="5687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1DDCE"/>
                </a:solidFill>
                <a:latin typeface="Helvetica"/>
              </a:rPr>
              <a:t>anúncios pagos, e-mail marketing</a:t>
            </a:r>
          </a:p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0DCCC"/>
                </a:solidFill>
                <a:latin typeface="Helvetica"/>
              </a:rPr>
              <a:t>com IA, marketing e branding,</a:t>
            </a:r>
          </a:p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FDBCC"/>
                </a:solidFill>
                <a:latin typeface="Helvetica"/>
              </a:rPr>
              <a:t>viagens de visita e assinatura,</a:t>
            </a:r>
          </a:p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FDBCC"/>
                </a:solidFill>
                <a:latin typeface="Helvetica"/>
              </a:rPr>
              <a:t>materiais físicos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6661405"/>
            <a:ext cx="459486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7A7469"/>
                </a:solidFill>
                <a:latin typeface="League Spartan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6517443"/>
            <a:ext cx="4237965" cy="10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B756A"/>
                </a:solidFill>
                <a:latin typeface="Helvetica"/>
              </a:rPr>
              <a:t>LTV em margem bruta sobre cinco anos, com atendimento direto no ano 1 e licença nos anos 2 a 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36631" y="460153"/>
            <a:ext cx="1047369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75524"/>
            <a:ext cx="5416614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 spc="-13">
                <a:solidFill>
                  <a:srgbClr val="F5F1E1"/>
                </a:solidFill>
                <a:latin typeface="League Spartan"/>
              </a:rPr>
              <a:t>As</a:t>
            </a:r>
            <a:r>
              <a:rPr sz="1340" b="1" i="0" spc="-13">
                <a:solidFill>
                  <a:srgbClr val="F7C31C"/>
                </a:solidFill>
                <a:latin typeface="League Spartan"/>
              </a:rPr>
              <a:t> core skills</a:t>
            </a:r>
            <a:r>
              <a:rPr sz="1340" b="1" i="0" spc="-13">
                <a:solidFill>
                  <a:srgbClr val="F5F1E1"/>
                </a:solidFill>
                <a:latin typeface="League Spartan"/>
              </a:rPr>
              <a:t> da PAAPS já estão cobertas pela equipe semente.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7418" y="1723496"/>
            <a:ext cx="1277175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5F1E1"/>
                </a:solidFill>
                <a:latin typeface="League Spartan"/>
              </a:rPr>
              <a:t>Mallu Vasconcellos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8753" y="1865625"/>
            <a:ext cx="2274506" cy="2169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DB7A7"/>
                </a:solidFill>
                <a:latin typeface="Helvetica"/>
              </a:rPr>
              <a:t>Founder da PAAPS Brasil. Formanda em psicologia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C0BAAA"/>
                </a:solidFill>
                <a:latin typeface="Helvetica"/>
              </a:rPr>
              <a:t>(PUC-SP - PUC-MG)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1970" y="1723496"/>
            <a:ext cx="1388046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5F1E1"/>
                </a:solidFill>
                <a:latin typeface="League Spartan"/>
              </a:rPr>
              <a:t>Fabiane Vasconcellos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0226" y="1865625"/>
            <a:ext cx="2371534" cy="4338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AB3A1"/>
                </a:solidFill>
                <a:latin typeface="Helvetica"/>
              </a:rPr>
              <a:t>Founder da DIGGING, sócia da PAAPS Brasil. Ex-diretora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AB2A1"/>
                </a:solidFill>
                <a:latin typeface="Helvetica"/>
              </a:rPr>
              <a:t>de planejamento estratégico do Grupo Pão de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AB3A1"/>
                </a:solidFill>
                <a:latin typeface="Helvetica"/>
              </a:rPr>
              <a:t>Açúcar. Executive coach e psicanalista de grupos, 25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AB3A1"/>
                </a:solidFill>
                <a:latin typeface="Helvetica"/>
              </a:rPr>
              <a:t>anos em gerências e diretorias e 12 de consultoria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3298" y="2886308"/>
            <a:ext cx="1060830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5F1E1"/>
                </a:solidFill>
                <a:latin typeface="League Spartan"/>
              </a:rPr>
              <a:t>Gustavo Faria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515" y="3028500"/>
            <a:ext cx="1644332" cy="32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BB5A5"/>
                </a:solidFill>
                <a:latin typeface="Helvetica"/>
              </a:rPr>
              <a:t>Especialista em comunidade e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CB5A5"/>
                </a:solidFill>
                <a:latin typeface="Helvetica"/>
              </a:rPr>
              <a:t>relacionamento, com estratégia de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BCB5A5"/>
                </a:solidFill>
                <a:latin typeface="Helvetica"/>
              </a:rPr>
              <a:t>community led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2489" y="2886308"/>
            <a:ext cx="1331404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5F1E1"/>
                </a:solidFill>
                <a:latin typeface="League Spartan"/>
              </a:rPr>
              <a:t>Luiz Sérgio Barbosa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9309" y="3028500"/>
            <a:ext cx="1917890" cy="4337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8B0A1"/>
                </a:solidFill>
                <a:latin typeface="Helvetica"/>
              </a:rPr>
              <a:t>Consultor financeiro da PAAPS Brasil. Ex-diretor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8B0A1"/>
                </a:solidFill>
                <a:latin typeface="Helvetica"/>
              </a:rPr>
              <a:t>financeiro da FEBRABAN, com 45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8B0A1"/>
                </a:solidFill>
                <a:latin typeface="Helvetica"/>
              </a:rPr>
              <a:t>anos de carreira no sistema bancário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8B1A2"/>
                </a:solidFill>
                <a:latin typeface="Helvetica"/>
              </a:rPr>
              <a:t>brasileiro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9455" y="4049183"/>
            <a:ext cx="1540446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5F1E1"/>
                </a:solidFill>
                <a:latin typeface="League Spartan"/>
              </a:rPr>
              <a:t>Psicóloga Gabriela Diniz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7115" y="4191312"/>
            <a:ext cx="1384998" cy="21691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CB5A4"/>
                </a:solidFill>
                <a:latin typeface="Helvetica"/>
              </a:rPr>
              <a:t>Supervisão na metodologia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DB5A5"/>
                </a:solidFill>
                <a:latin typeface="Helvetica"/>
              </a:rPr>
              <a:t>PAAPS Brasil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8796" y="4049183"/>
            <a:ext cx="1546923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5F1E1"/>
                </a:solidFill>
                <a:latin typeface="League Spartan"/>
              </a:rPr>
              <a:t>Psicólogo Lucas Pimenta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759" y="4191312"/>
            <a:ext cx="1384998" cy="21691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BB6AA"/>
                </a:solidFill>
                <a:latin typeface="Helvetica"/>
              </a:rPr>
              <a:t>Supervisão na metodologia</a:t>
            </a:r>
          </a:p>
          <a:p>
            <a:pPr algn="ctr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BBB7AB"/>
                </a:solidFill>
                <a:latin typeface="Helvetica"/>
              </a:rPr>
              <a:t>PAAPS Brasil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469" y="4604213"/>
            <a:ext cx="3413061" cy="106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BCB5A6"/>
                </a:solidFill>
                <a:latin typeface="Helvetica"/>
              </a:rPr>
              <a:t>A escala conta com</a:t>
            </a:r>
            <a:r>
              <a:rPr sz="670" b="1" i="0">
                <a:solidFill>
                  <a:srgbClr val="F5F1E1"/>
                </a:solidFill>
                <a:latin typeface="Helvetica"/>
              </a:rPr>
              <a:t> uso seguro de Inteligência Artificial para operações</a:t>
            </a:r>
            <a:r>
              <a:rPr sz="670" b="0" i="0">
                <a:solidFill>
                  <a:srgbClr val="BCB5A6"/>
                </a:solidFill>
                <a:latin typeface="Helvetica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247070"/>
            <a:ext cx="116624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 spc="-47">
                <a:solidFill>
                  <a:srgbClr val="F7C31C"/>
                </a:solidFill>
                <a:latin typeface="League Spartan"/>
              </a:rPr>
              <a:t>+120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4009" y="5468485"/>
            <a:ext cx="1824354" cy="12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1DCCC"/>
                </a:solidFill>
                <a:latin typeface="Helvetica"/>
              </a:rPr>
              <a:t>psicólogos na comunidade 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4661" y="5247070"/>
            <a:ext cx="1256284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 spc="-47">
                <a:solidFill>
                  <a:srgbClr val="F7C31C"/>
                </a:solidFill>
                <a:latin typeface="League Spartan"/>
              </a:rPr>
              <a:t>+500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2777" y="5468485"/>
            <a:ext cx="4652928" cy="12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2DCCC"/>
                </a:solidFill>
                <a:latin typeface="Helvetica"/>
              </a:rPr>
              <a:t>profissionais formados, atendidos ou mobilizados pelas pesquisas de campo da PAAPS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6661405"/>
            <a:ext cx="458279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897E6B"/>
                </a:solidFill>
                <a:latin typeface="League Spartan"/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967" y="6661405"/>
            <a:ext cx="1911032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0" i="0" spc="26">
                <a:solidFill>
                  <a:srgbClr val="91886F"/>
                </a:solidFill>
                <a:latin typeface="League Spartan"/>
              </a:rPr>
              <a:t>PAAPS em campo, Minas Gerais e Rio de Janeiro.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07343" y="4334099"/>
            <a:ext cx="2377186" cy="1803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 spc="11">
                <a:solidFill>
                  <a:srgbClr val="F5F1E1"/>
                </a:solidFill>
                <a:latin typeface="League Spartan"/>
              </a:rPr>
              <a:t>Serasa Experian e ACE Cortex,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76955" y="4603573"/>
            <a:ext cx="3438088" cy="6233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3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1E1"/>
                </a:solidFill>
                <a:latin typeface="Helvetica"/>
              </a:rPr>
              <a:t>Essa é Celina. Ela é Agente Comunitária de</a:t>
            </a:r>
          </a:p>
          <a:p>
            <a:pPr algn="ctr">
              <a:lnSpc>
                <a:spcPts val="163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1E1"/>
                </a:solidFill>
                <a:latin typeface="Helvetica"/>
              </a:rPr>
              <a:t>Saúde, e caminha às mais remotas casas do</a:t>
            </a:r>
          </a:p>
          <a:p>
            <a:pPr algn="ctr">
              <a:lnSpc>
                <a:spcPts val="163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1E1"/>
                </a:solidFill>
                <a:latin typeface="Helvetica"/>
              </a:rPr>
              <a:t>Brasil todos os dias, a 2 salários mínimos.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2450" y="5366774"/>
            <a:ext cx="4967034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480" b="1" i="0" spc="-25">
                <a:solidFill>
                  <a:srgbClr val="F5F1E1"/>
                </a:solidFill>
                <a:latin typeface="League Spartan"/>
              </a:rPr>
              <a:t>NOS AJUDEM A CUIDAR DELA?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5869" y="6265841"/>
            <a:ext cx="1751203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7">
                <a:solidFill>
                  <a:srgbClr val="FFFFFF"/>
                </a:solidFill>
                <a:latin typeface="League Spartan"/>
              </a:rPr>
              <a:t>Acesse:</a:t>
            </a:r>
            <a:r>
              <a:rPr sz="860" b="1" i="0" spc="17">
                <a:solidFill>
                  <a:srgbClr val="F7C31C"/>
                </a:solidFill>
                <a:latin typeface="League Spartan"/>
              </a:rPr>
              <a:t> www.paaps.com.br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9048" y="6265841"/>
            <a:ext cx="1741297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7">
                <a:solidFill>
                  <a:srgbClr val="FFFFFF"/>
                </a:solidFill>
                <a:latin typeface="League Spartan"/>
              </a:rPr>
              <a:t>Acompanhe:</a:t>
            </a:r>
            <a:r>
              <a:rPr sz="860" b="1" i="0" spc="17">
                <a:solidFill>
                  <a:srgbClr val="F7C31C"/>
                </a:solidFill>
                <a:latin typeface="League Spartan"/>
              </a:rPr>
              <a:t> @paaps.brasil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2322" y="6265841"/>
            <a:ext cx="1513077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7">
                <a:solidFill>
                  <a:srgbClr val="FFFFFF"/>
                </a:solidFill>
                <a:latin typeface="League Spartan"/>
              </a:rPr>
              <a:t>LinkedIn:</a:t>
            </a:r>
            <a:r>
              <a:rPr sz="860" b="1" i="0" spc="17">
                <a:solidFill>
                  <a:srgbClr val="F7C31C"/>
                </a:solidFill>
                <a:latin typeface="League Spartan"/>
              </a:rPr>
              <a:t> PAAPS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7376" y="6265841"/>
            <a:ext cx="2306510" cy="137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7">
                <a:solidFill>
                  <a:srgbClr val="FFFFFF"/>
                </a:solidFill>
                <a:latin typeface="League Spartan"/>
              </a:rPr>
              <a:t>Mailto:</a:t>
            </a:r>
            <a:r>
              <a:rPr sz="860" b="1" i="0" spc="17">
                <a:solidFill>
                  <a:srgbClr val="F7C31C"/>
                </a:solidFill>
                <a:latin typeface="League Spartan"/>
              </a:rPr>
              <a:t> relacionamento@paaps.com.br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661405"/>
            <a:ext cx="459359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837A6E"/>
                </a:solidFill>
                <a:latin typeface="League Spart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9135" y="460153"/>
            <a:ext cx="1074864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 spc="-16">
                <a:solidFill>
                  <a:srgbClr val="F7C31C"/>
                </a:solidFill>
                <a:latin typeface="League Spartan"/>
              </a:rPr>
              <a:t>ANEXO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905172"/>
            <a:ext cx="2444623" cy="5021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77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 spc="-19">
                <a:solidFill>
                  <a:srgbClr val="F5F1E1"/>
                </a:solidFill>
                <a:latin typeface="League Spartan"/>
              </a:rPr>
              <a:t>COMO CHEGAMOS</a:t>
            </a:r>
          </a:p>
          <a:p>
            <a:pPr algn="l">
              <a:lnSpc>
                <a:spcPts val="1977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 spc="-19">
                <a:solidFill>
                  <a:srgbClr val="F5F1E1"/>
                </a:solidFill>
                <a:latin typeface="League Spartan"/>
              </a:rPr>
              <a:t>NESSES NÚMEROS.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2235" y="2500546"/>
            <a:ext cx="1616202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F5F1E1"/>
                </a:solidFill>
                <a:latin typeface="League Spartan"/>
              </a:rPr>
              <a:t>~R$ 711 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089" y="2813690"/>
            <a:ext cx="2295017" cy="5230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4DFD0"/>
                </a:solidFill>
                <a:latin typeface="Helvetica"/>
              </a:rPr>
              <a:t>Ano 1 (execução própria): R$ 924 mil × 60,1%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4DFD0"/>
                </a:solidFill>
                <a:latin typeface="Helvetica"/>
              </a:rPr>
              <a:t>= R$ 555 mil. Anos 2 a 5 (licença Base): R$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4DECF"/>
                </a:solidFill>
                <a:latin typeface="Helvetica"/>
              </a:rPr>
              <a:t>64,8 mil × 4 anos × 60,1% = R$ 156 mil.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7C31C"/>
                </a:solidFill>
                <a:latin typeface="Helvetica"/>
              </a:rPr>
              <a:t>Soma: R$ 711 mil em 5 anos.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55328" y="3518197"/>
            <a:ext cx="890079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F5F1E1"/>
                </a:solidFill>
                <a:latin typeface="League Spartan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089" y="3831341"/>
            <a:ext cx="2215959" cy="5230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5E0D0"/>
                </a:solidFill>
                <a:latin typeface="Helvetica"/>
              </a:rPr>
              <a:t>Uma Roda de Equipe custa R$ 1.100 para a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4DECF"/>
                </a:solidFill>
                <a:latin typeface="Helvetica"/>
              </a:rPr>
              <a:t>prefeitura e R$ 438 para a PAAPS (2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5DECF"/>
                </a:solidFill>
                <a:latin typeface="Helvetica"/>
              </a:rPr>
              <a:t>psicólogos CLT, supervisão, orquestração e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5DECF"/>
                </a:solidFill>
                <a:latin typeface="Helvetica"/>
              </a:rPr>
              <a:t>imposto).</a:t>
            </a:r>
            <a:r>
              <a:rPr sz="740" b="1" i="0">
                <a:solidFill>
                  <a:srgbClr val="F7C31C"/>
                </a:solidFill>
                <a:latin typeface="Helvetica"/>
              </a:rPr>
              <a:t> R$ 662 de margem: 60,1%.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2210" y="2500546"/>
            <a:ext cx="898525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F5F1E1"/>
                </a:solidFill>
                <a:latin typeface="League Spartan"/>
              </a:rPr>
              <a:t>0,26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1289" y="2813690"/>
            <a:ext cx="2280856" cy="5230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3DECF"/>
                </a:solidFill>
                <a:latin typeface="Helvetica"/>
              </a:rPr>
              <a:t>Estrutura fixa da empresa: R$ 12 mil por mês,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3DECF"/>
                </a:solidFill>
                <a:latin typeface="Helvetica"/>
              </a:rPr>
              <a:t>sem pró-labore no ano 1. Margem de um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4DFD0"/>
                </a:solidFill>
                <a:latin typeface="Helvetica"/>
              </a:rPr>
              <a:t>único município: R$ 46,31 mil por mês.</a:t>
            </a:r>
            <a:r>
              <a:rPr sz="740" b="1" i="0">
                <a:solidFill>
                  <a:srgbClr val="F7C31C"/>
                </a:solidFill>
                <a:latin typeface="Helvetica"/>
              </a:rPr>
              <a:t> R$ 12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7C31C"/>
                </a:solidFill>
                <a:latin typeface="Helvetica"/>
              </a:rPr>
              <a:t>mil ÷ R$ 46,31 mil = 0,26 município.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4355" y="3518197"/>
            <a:ext cx="1634362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F5F1E1"/>
                </a:solidFill>
                <a:latin typeface="League Spartan"/>
              </a:rPr>
              <a:t>A construir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1289" y="3831341"/>
            <a:ext cx="2298573" cy="78463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7C31C"/>
                </a:solidFill>
                <a:latin typeface="Helvetica"/>
              </a:rPr>
              <a:t>Prospecção:</a:t>
            </a:r>
            <a:r>
              <a:rPr sz="740" b="0" i="0">
                <a:solidFill>
                  <a:srgbClr val="E5E0D1"/>
                </a:solidFill>
                <a:latin typeface="Helvetica"/>
              </a:rPr>
              <a:t> anúncios pagos, e-mail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6E0D1"/>
                </a:solidFill>
                <a:latin typeface="Helvetica"/>
              </a:rPr>
              <a:t>marketing com IA, marketing e branding,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6E0D0"/>
                </a:solidFill>
                <a:latin typeface="Helvetica"/>
              </a:rPr>
              <a:t>viagens de visita e assinatura, materiais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5DFCF"/>
                </a:solidFill>
                <a:latin typeface="Helvetica"/>
              </a:rPr>
              <a:t>físicos. Os 4 territórios vieram por convite e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E5DFD0"/>
                </a:solidFill>
                <a:latin typeface="Helvetica"/>
              </a:rPr>
              <a:t>relação local.</a:t>
            </a:r>
            <a:r>
              <a:rPr sz="740" b="1" i="0">
                <a:solidFill>
                  <a:srgbClr val="F7C31C"/>
                </a:solidFill>
                <a:latin typeface="Helvetica"/>
              </a:rPr>
              <a:t> É esse canal que a aceleração</a:t>
            </a:r>
          </a:p>
          <a:p>
            <a:pPr algn="l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7C31C"/>
                </a:solidFill>
                <a:latin typeface="Helvetica"/>
              </a:rPr>
              <a:t>ajuda a construir.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6661405"/>
            <a:ext cx="459486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 spc="74">
                <a:solidFill>
                  <a:srgbClr val="848078"/>
                </a:solidFill>
                <a:latin typeface="League Spartan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6176384"/>
            <a:ext cx="9233848" cy="454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8F8A85"/>
                </a:solidFill>
                <a:latin typeface="Helvetica"/>
              </a:rPr>
              <a:t>Premissas do modelo:</a:t>
            </a:r>
            <a:r>
              <a:rPr sz="640" b="0" i="0">
                <a:solidFill>
                  <a:srgbClr val="8F8A85"/>
                </a:solidFill>
                <a:latin typeface="Helvetica"/>
              </a:rPr>
              <a:t> estrutura fixa de R$ 12 mil por mês, crescendo até R$ 150 mil no ano 5 · pró-labore de R$ 10 mil por mês para a sócia que conduz a PAAPS · parecer jurídico em inexigibilidade a cada contrato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E8883"/>
                </a:solidFill>
                <a:latin typeface="Helvetica"/>
              </a:rPr>
              <a:t>e contabilidade especializada mensal, ainda em orçamento: cerca de 3% da receita no ano 1 e menos de 1% a partir do ano 2 · saída do Simples Nacional no ano 3 · o Diagnóstico 360° a R$ 10 mil é porta de entrada,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18A82"/>
                </a:solidFill>
                <a:latin typeface="Helvetica"/>
              </a:rPr>
              <a:t>contabilizada como investimento comercial ·</a:t>
            </a:r>
            <a:r>
              <a:rPr sz="640" b="1" i="0">
                <a:solidFill>
                  <a:srgbClr val="918A82"/>
                </a:solidFill>
                <a:latin typeface="Helvetica"/>
              </a:rPr>
              <a:t> A margem operacional do slide 14, de 41% a 46%, é o que sobra depois de custo direto, tributos, estrutura fixa e assessoria, e antes do pró-labore:</a:t>
            </a:r>
            <a:r>
              <a:rPr sz="640" b="0" i="0">
                <a:solidFill>
                  <a:srgbClr val="918A82"/>
                </a:solidFill>
                <a:latin typeface="Helvetica"/>
              </a:rPr>
              <a:t> R$ 384 mil no</a:t>
            </a:r>
          </a:p>
          <a:p>
            <a:pPr algn="l">
              <a:lnSpc>
                <a:spcPts val="894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48D7D"/>
                </a:solidFill>
                <a:latin typeface="Helvetica"/>
              </a:rPr>
              <a:t>ano 1 e R$ 5,70 milhões no ano 5 · Modelo de negócio completo mediante solicitação.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13213" y="6661405"/>
            <a:ext cx="1470850" cy="838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30" b="0" i="0" spc="26">
                <a:solidFill>
                  <a:srgbClr val="989691"/>
                </a:solidFill>
                <a:latin typeface="League Spartan"/>
              </a:rPr>
              <a:t>PAAPS em campo, Roda de Equipe.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